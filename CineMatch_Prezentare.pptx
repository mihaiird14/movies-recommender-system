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1" r:id="rId6"/>
    <p:sldId id="260" r:id="rId7"/>
    <p:sldId id="270" r:id="rId8"/>
    <p:sldId id="274" r:id="rId9"/>
    <p:sldId id="271" r:id="rId10"/>
    <p:sldId id="272" r:id="rId11"/>
    <p:sldId id="273" r:id="rId12"/>
    <p:sldId id="262" r:id="rId13"/>
    <p:sldId id="263" r:id="rId14"/>
    <p:sldId id="264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2" d="100"/>
          <a:sy n="102" d="100"/>
        </p:scale>
        <p:origin x="260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389272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?>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?>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5.xml.rels><?xml version="1.0" encoding="UTF-8"?>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?>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?>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3.xml.rels><?xml version="1.0" encoding="UTF-8"?>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4.xml.rels><?xml version="1.0" encoding="UTF-8"?>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3474720"/>
            <a:ext cx="10058400" cy="36576"/>
          </a:xfrm>
          <a:prstGeom prst="rect">
            <a:avLst/>
          </a:prstGeom>
          <a:solidFill>
            <a:srgbClr val="E8C55A">
              <a:alpha val="30000"/>
            </a:srgbClr>
          </a:solidFill>
          <a:ln w="12700">
            <a:solidFill>
              <a:srgbClr val="E8C55A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8C55A"/>
          </a:solidFill>
          <a:ln w="12700">
            <a:solidFill>
              <a:srgbClr val="E8C55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4008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E8C55A"/>
                </a:solidFill>
              </a:rPr>
              <a:t>◈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365760" y="141732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0" kern="0" spc="1000" dirty="0">
                <a:solidFill>
                  <a:srgbClr val="F0EEE8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CINEMATCH</a:t>
            </a:r>
            <a:endParaRPr lang="en-US" sz="8000" dirty="0"/>
          </a:p>
        </p:txBody>
      </p:sp>
      <p:sp>
        <p:nvSpPr>
          <p:cNvPr id="6" name="Text 4"/>
          <p:cNvSpPr/>
          <p:nvPr/>
        </p:nvSpPr>
        <p:spPr>
          <a:xfrm>
            <a:off x="365760" y="26974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9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Sistem de Recomandare de </a:t>
            </a:r>
            <a:r>
              <a:rPr lang="en-US" sz="1800" dirty="0" err="1">
                <a:solidFill>
                  <a:srgbClr val="99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Filme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200400" y="3337560"/>
            <a:ext cx="2743200" cy="27432"/>
          </a:xfrm>
          <a:prstGeom prst="rect">
            <a:avLst/>
          </a:prstGeom>
          <a:solidFill>
            <a:srgbClr val="E8C55A"/>
          </a:solidFill>
          <a:ln w="12700">
            <a:solidFill>
              <a:srgbClr val="E8C55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3566160"/>
            <a:ext cx="8617254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ro-RO" sz="1300" dirty="0">
                <a:solidFill>
                  <a:srgbClr val="5A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Coman Ioan Alexandru</a:t>
            </a:r>
          </a:p>
          <a:p>
            <a:pPr marL="0" indent="0" algn="r">
              <a:buNone/>
            </a:pPr>
            <a:r>
              <a:rPr lang="ro-RO" sz="1300" dirty="0">
                <a:solidFill>
                  <a:srgbClr val="5A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Iordache Mihai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64592" y="4480560"/>
            <a:ext cx="8979408" cy="662940"/>
          </a:xfrm>
          <a:prstGeom prst="rect">
            <a:avLst/>
          </a:prstGeom>
          <a:solidFill>
            <a:srgbClr val="12121A"/>
          </a:solidFill>
          <a:ln w="12700">
            <a:solidFill>
              <a:srgbClr val="12121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4498848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A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Proiect Web · Facultatea de Matematică și Informatică · Universitatea din București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C55A"/>
          </a:solidFill>
          <a:ln w="12700">
            <a:solidFill>
              <a:srgbClr val="E8C5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kern="0" spc="200" dirty="0" err="1">
                <a:solidFill>
                  <a:srgbClr val="F0EEE8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CineMatch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274320" y="1143000"/>
            <a:ext cx="2743200" cy="3383280"/>
          </a:xfrm>
          <a:prstGeom prst="rect">
            <a:avLst/>
          </a:prstGeom>
          <a:solidFill>
            <a:srgbClr val="16161F"/>
          </a:solidFill>
          <a:ln w="12700">
            <a:solidFill>
              <a:srgbClr val="1A1A2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143000"/>
            <a:ext cx="2743200" cy="64008"/>
          </a:xfrm>
          <a:prstGeom prst="rect">
            <a:avLst/>
          </a:prstGeom>
          <a:solidFill>
            <a:srgbClr val="E8C55A"/>
          </a:solidFill>
          <a:ln w="12700">
            <a:solidFill>
              <a:srgbClr val="E8C55A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" y="1371600"/>
            <a:ext cx="731520" cy="7315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221284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kern="0" spc="100" dirty="0">
                <a:solidFill>
                  <a:srgbClr val="E8C55A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Descoperire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457200" y="2743200"/>
            <a:ext cx="23774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9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Grilă cu </a:t>
            </a:r>
            <a:r>
              <a:rPr lang="en-US" sz="1300" dirty="0" err="1">
                <a:solidFill>
                  <a:srgbClr val="99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filme</a:t>
            </a:r>
            <a:r>
              <a:rPr lang="en-US" sz="1300" dirty="0">
                <a:solidFill>
                  <a:srgbClr val="99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din HuggingFace, filtrare după gen și căutare clasică în timp real.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246120" y="1143000"/>
            <a:ext cx="2743200" cy="3383280"/>
          </a:xfrm>
          <a:prstGeom prst="rect">
            <a:avLst/>
          </a:prstGeom>
          <a:solidFill>
            <a:srgbClr val="16161F"/>
          </a:solidFill>
          <a:ln w="12700">
            <a:solidFill>
              <a:srgbClr val="1A1A2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246120" y="1143000"/>
            <a:ext cx="2743200" cy="64008"/>
          </a:xfrm>
          <a:prstGeom prst="rect">
            <a:avLst/>
          </a:prstGeom>
          <a:solidFill>
            <a:srgbClr val="E8C55A"/>
          </a:solidFill>
          <a:ln w="12700">
            <a:solidFill>
              <a:srgbClr val="E8C55A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51960" y="1371600"/>
            <a:ext cx="731520" cy="7315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383280" y="221284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ro-RO" sz="1800" kern="0" spc="100" dirty="0">
                <a:solidFill>
                  <a:srgbClr val="E8C55A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Căutare Inteligentă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3429000" y="2743200"/>
            <a:ext cx="23774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9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Caută în limbaj natural — descrie filmul dorit </a:t>
            </a:r>
            <a:r>
              <a:rPr lang="en-US" sz="1300" dirty="0" err="1">
                <a:solidFill>
                  <a:srgbClr val="99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și</a:t>
            </a:r>
            <a:r>
              <a:rPr lang="en-US" sz="1300" dirty="0">
                <a:solidFill>
                  <a:srgbClr val="99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ro-RO" sz="1300" dirty="0">
                <a:solidFill>
                  <a:srgbClr val="99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descoperă cele mai potrivite filme</a:t>
            </a:r>
            <a:r>
              <a:rPr lang="en-US" sz="1300" dirty="0">
                <a:solidFill>
                  <a:srgbClr val="99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217920" y="1143000"/>
            <a:ext cx="2743200" cy="3383280"/>
          </a:xfrm>
          <a:prstGeom prst="rect">
            <a:avLst/>
          </a:prstGeom>
          <a:solidFill>
            <a:srgbClr val="16161F"/>
          </a:solidFill>
          <a:ln w="12700">
            <a:solidFill>
              <a:srgbClr val="1A1A2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217920" y="1143000"/>
            <a:ext cx="2743200" cy="64008"/>
          </a:xfrm>
          <a:prstGeom prst="rect">
            <a:avLst/>
          </a:prstGeom>
          <a:solidFill>
            <a:srgbClr val="E8C55A"/>
          </a:solidFill>
          <a:ln w="12700">
            <a:solidFill>
              <a:srgbClr val="E8C55A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23760" y="1371600"/>
            <a:ext cx="731520" cy="7315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355080" y="221284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kern="0" spc="100" dirty="0">
                <a:solidFill>
                  <a:srgbClr val="E8C55A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Recomandări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6400800" y="2743200"/>
            <a:ext cx="23774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ro-RO" sz="1300" dirty="0">
                <a:solidFill>
                  <a:srgbClr val="99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Filme sugerate pe baza listei tale de preferințe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C55A"/>
          </a:solidFill>
          <a:ln w="12700">
            <a:solidFill>
              <a:srgbClr val="E8C5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kern="0" spc="200" dirty="0">
                <a:solidFill>
                  <a:srgbClr val="F0EEE8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Arhitectura Aplicației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8595360" cy="868680"/>
          </a:xfrm>
          <a:prstGeom prst="rect">
            <a:avLst/>
          </a:prstGeom>
          <a:solidFill>
            <a:srgbClr val="1A1A26"/>
          </a:solidFill>
          <a:ln w="12700">
            <a:solidFill>
              <a:srgbClr val="1A1A2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97280"/>
            <a:ext cx="64008" cy="868680"/>
          </a:xfrm>
          <a:prstGeom prst="rect">
            <a:avLst/>
          </a:prstGeom>
          <a:solidFill>
            <a:srgbClr val="E8C55A"/>
          </a:solidFill>
          <a:ln w="12700">
            <a:solidFill>
              <a:srgbClr val="E8C55A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" y="1298448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24128" y="117043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kern="0" spc="100" dirty="0">
                <a:solidFill>
                  <a:srgbClr val="E8C55A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FRONTEND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024128" y="155448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9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index.html · script.js · stil.css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274320" y="2240280"/>
            <a:ext cx="8595360" cy="868680"/>
          </a:xfrm>
          <a:prstGeom prst="rect">
            <a:avLst/>
          </a:prstGeom>
          <a:solidFill>
            <a:srgbClr val="1C1C2E"/>
          </a:solidFill>
          <a:ln w="12700">
            <a:solidFill>
              <a:srgbClr val="1A1A26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74320" y="2240280"/>
            <a:ext cx="64008" cy="868680"/>
          </a:xfrm>
          <a:prstGeom prst="rect">
            <a:avLst/>
          </a:prstGeom>
          <a:solidFill>
            <a:srgbClr val="E8C55A"/>
          </a:solidFill>
          <a:ln w="12700">
            <a:solidFill>
              <a:srgbClr val="E8C55A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912" y="2441448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024128" y="231343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kern="0" spc="100" dirty="0">
                <a:solidFill>
                  <a:srgbClr val="E8C55A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BACKEND (Flask)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1024128" y="269748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9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app.py · REST API · NLP Engine · Word2Vec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274320" y="3383280"/>
            <a:ext cx="8595360" cy="868680"/>
          </a:xfrm>
          <a:prstGeom prst="rect">
            <a:avLst/>
          </a:prstGeom>
          <a:solidFill>
            <a:srgbClr val="0F0F1A"/>
          </a:solidFill>
          <a:ln w="12700">
            <a:solidFill>
              <a:srgbClr val="1A1A26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274320" y="3383280"/>
            <a:ext cx="64008" cy="868680"/>
          </a:xfrm>
          <a:prstGeom prst="rect">
            <a:avLst/>
          </a:prstGeom>
          <a:solidFill>
            <a:srgbClr val="E8C55A"/>
          </a:solidFill>
          <a:ln w="12700">
            <a:solidFill>
              <a:srgbClr val="E8C55A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912" y="3584448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024128" y="345643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kern="0" spc="100" dirty="0">
                <a:solidFill>
                  <a:srgbClr val="E8C55A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DATE EXTERNE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1024128" y="384048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9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HuggingFace Dataset · TMDB API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4297680" y="1965960"/>
            <a:ext cx="548640" cy="256032"/>
          </a:xfrm>
          <a:prstGeom prst="rect">
            <a:avLst/>
          </a:prstGeom>
          <a:solidFill>
            <a:srgbClr val="0A0A0F"/>
          </a:solidFill>
          <a:ln w="12700">
            <a:solidFill>
              <a:srgbClr val="0A0A0F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4297680" y="196596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A5570"/>
                </a:solidFill>
              </a:rPr>
              <a:t>⬇</a:t>
            </a:r>
            <a:endParaRPr lang="en-US" sz="1600" dirty="0"/>
          </a:p>
        </p:txBody>
      </p:sp>
      <p:sp>
        <p:nvSpPr>
          <p:cNvPr id="21" name="Shape 16"/>
          <p:cNvSpPr/>
          <p:nvPr/>
        </p:nvSpPr>
        <p:spPr>
          <a:xfrm>
            <a:off x="4297680" y="3108960"/>
            <a:ext cx="548640" cy="256032"/>
          </a:xfrm>
          <a:prstGeom prst="rect">
            <a:avLst/>
          </a:prstGeom>
          <a:solidFill>
            <a:srgbClr val="0A0A0F"/>
          </a:solidFill>
          <a:ln w="12700">
            <a:solidFill>
              <a:srgbClr val="0A0A0F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4297680" y="310896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A5570"/>
                </a:solidFill>
              </a:rPr>
              <a:t>⬇</a:t>
            </a:r>
            <a:endParaRPr lang="en-US" sz="1600" dirty="0"/>
          </a:p>
        </p:txBody>
      </p:sp>
      <p:sp>
        <p:nvSpPr>
          <p:cNvPr id="23" name="Text 18"/>
          <p:cNvSpPr/>
          <p:nvPr/>
        </p:nvSpPr>
        <p:spPr>
          <a:xfrm>
            <a:off x="274320" y="443484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8080  (HTTP)                              Port 5000  (Flask)                              TMDB + HuggingFace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C55A"/>
          </a:solidFill>
          <a:ln w="12700">
            <a:solidFill>
              <a:srgbClr val="E8C5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kern="0" spc="200" dirty="0">
                <a:solidFill>
                  <a:srgbClr val="F0EEE8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Surse de Date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3931920" cy="3566160"/>
          </a:xfrm>
          <a:prstGeom prst="rect">
            <a:avLst/>
          </a:prstGeom>
          <a:solidFill>
            <a:srgbClr val="16161F"/>
          </a:solidFill>
          <a:ln w="12700">
            <a:solidFill>
              <a:srgbClr val="1A1A2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97280"/>
            <a:ext cx="3931920" cy="64008"/>
          </a:xfrm>
          <a:prstGeom prst="rect">
            <a:avLst/>
          </a:prstGeom>
          <a:solidFill>
            <a:srgbClr val="E8C55A"/>
          </a:solidFill>
          <a:ln w="12700">
            <a:solidFill>
              <a:srgbClr val="E8C55A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3080" y="1298448"/>
            <a:ext cx="822960" cy="8229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22402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kern="0" spc="50" dirty="0">
                <a:solidFill>
                  <a:srgbClr val="E8C55A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HuggingFace Dataset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57200" y="2788920"/>
            <a:ext cx="3566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9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~87.000 filme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99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krishnakamath/movielens-32m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99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99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Câmpuri folosite: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99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title, plot_summary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99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genres, director, stars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99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movie_id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846320" y="1097280"/>
            <a:ext cx="3931920" cy="3566160"/>
          </a:xfrm>
          <a:prstGeom prst="rect">
            <a:avLst/>
          </a:prstGeom>
          <a:solidFill>
            <a:srgbClr val="16161F"/>
          </a:solidFill>
          <a:ln w="12700">
            <a:solidFill>
              <a:srgbClr val="1A1A2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846320" y="1097280"/>
            <a:ext cx="3931920" cy="64008"/>
          </a:xfrm>
          <a:prstGeom prst="rect">
            <a:avLst/>
          </a:prstGeom>
          <a:solidFill>
            <a:srgbClr val="E8C55A"/>
          </a:solidFill>
          <a:ln w="12700">
            <a:solidFill>
              <a:srgbClr val="E8C55A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1298448"/>
            <a:ext cx="822960" cy="8229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029200" y="22402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kern="0" spc="50" dirty="0">
                <a:solidFill>
                  <a:srgbClr val="E8C55A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TMDB API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5029200" y="2788920"/>
            <a:ext cx="3566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9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Movie Database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99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gratuit cu cheie personală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99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99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Folosit exclusiv pentru: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99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Poster &amp; backdrop imagini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99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Rating &amp; dată lansare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99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Distribuție cu fotografii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C55A"/>
          </a:solidFill>
          <a:ln w="12700">
            <a:solidFill>
              <a:srgbClr val="E8C5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kern="0" spc="200" dirty="0">
                <a:solidFill>
                  <a:srgbClr val="F0EEE8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Funcționalități Principale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4160520" cy="1737360"/>
          </a:xfrm>
          <a:prstGeom prst="rect">
            <a:avLst/>
          </a:prstGeom>
          <a:solidFill>
            <a:srgbClr val="16161F"/>
          </a:solidFill>
          <a:ln w="12700">
            <a:solidFill>
              <a:srgbClr val="1A1A2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51560"/>
            <a:ext cx="64008" cy="1737360"/>
          </a:xfrm>
          <a:prstGeom prst="rect">
            <a:avLst/>
          </a:prstGeom>
          <a:solidFill>
            <a:srgbClr val="E8C55A"/>
          </a:solidFill>
          <a:ln w="12700">
            <a:solidFill>
              <a:srgbClr val="E8C55A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" y="118872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51560" y="1161288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kern="0" spc="50" dirty="0">
                <a:solidFill>
                  <a:srgbClr val="E8C55A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Discover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051560" y="1563624"/>
            <a:ext cx="32461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99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Grilă paginată (24/pagină), filtrare în timp real după gen și text, poster polling la 4s pentru update asincron.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709160" y="1051560"/>
            <a:ext cx="4160520" cy="1737360"/>
          </a:xfrm>
          <a:prstGeom prst="rect">
            <a:avLst/>
          </a:prstGeom>
          <a:solidFill>
            <a:srgbClr val="16161F"/>
          </a:solidFill>
          <a:ln w="12700">
            <a:solidFill>
              <a:srgbClr val="1A1A2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09160" y="1051560"/>
            <a:ext cx="64008" cy="1737360"/>
          </a:xfrm>
          <a:prstGeom prst="rect">
            <a:avLst/>
          </a:prstGeom>
          <a:solidFill>
            <a:srgbClr val="E8C55A"/>
          </a:solidFill>
          <a:ln w="12700">
            <a:solidFill>
              <a:srgbClr val="E8C55A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3752" y="1188720"/>
            <a:ext cx="502920" cy="5029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86400" y="1161288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kern="0" spc="50" dirty="0">
                <a:solidFill>
                  <a:srgbClr val="E8C55A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My List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5486400" y="1563624"/>
            <a:ext cx="32461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99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Filme salvate per utilizator în localStorage. Insigne vizuale pe carduri. Persistente între sesiuni.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274320" y="3017520"/>
            <a:ext cx="4160520" cy="1737360"/>
          </a:xfrm>
          <a:prstGeom prst="rect">
            <a:avLst/>
          </a:prstGeom>
          <a:solidFill>
            <a:srgbClr val="16161F"/>
          </a:solidFill>
          <a:ln w="12700">
            <a:solidFill>
              <a:srgbClr val="1A1A2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274320" y="3017520"/>
            <a:ext cx="64008" cy="1737360"/>
          </a:xfrm>
          <a:prstGeom prst="rect">
            <a:avLst/>
          </a:prstGeom>
          <a:solidFill>
            <a:srgbClr val="E8C55A"/>
          </a:solidFill>
          <a:ln w="12700">
            <a:solidFill>
              <a:srgbClr val="E8C55A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912" y="3154680"/>
            <a:ext cx="502920" cy="5029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051560" y="3127248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kern="0" spc="50" dirty="0">
                <a:solidFill>
                  <a:srgbClr val="E8C55A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Recommendations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1051560" y="3529584"/>
            <a:ext cx="32461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99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Profilul = media vectorilor Word2Vec ai filmelor din listă. Top 20 filme cu cel mai mare cosine similarity.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4709160" y="3017520"/>
            <a:ext cx="4160520" cy="1737360"/>
          </a:xfrm>
          <a:prstGeom prst="rect">
            <a:avLst/>
          </a:prstGeom>
          <a:solidFill>
            <a:srgbClr val="16161F"/>
          </a:solidFill>
          <a:ln w="12700">
            <a:solidFill>
              <a:srgbClr val="1A1A2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709160" y="3017520"/>
            <a:ext cx="64008" cy="1737360"/>
          </a:xfrm>
          <a:prstGeom prst="rect">
            <a:avLst/>
          </a:prstGeom>
          <a:solidFill>
            <a:srgbClr val="E8C55A"/>
          </a:solidFill>
          <a:ln w="12700">
            <a:solidFill>
              <a:srgbClr val="E8C55A"/>
            </a:solidFill>
            <a:prstDash val="solid"/>
          </a:ln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73752" y="3154680"/>
            <a:ext cx="502920" cy="5029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486400" y="3127248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kern="0" spc="50" dirty="0">
                <a:solidFill>
                  <a:srgbClr val="E8C55A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Search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5486400" y="3529584"/>
            <a:ext cx="32461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99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Textarea de căutare liberă. Parser extras gen/actor/an/rating + vector semantic pentru ranking combinat.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C55A"/>
          </a:solidFill>
          <a:ln w="12700">
            <a:solidFill>
              <a:srgbClr val="E8C5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kern="0" spc="200" dirty="0">
                <a:solidFill>
                  <a:srgbClr val="F0EEE8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Algoritmul Word2Vec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1554480" cy="2743200"/>
          </a:xfrm>
          <a:prstGeom prst="rect">
            <a:avLst/>
          </a:prstGeom>
          <a:solidFill>
            <a:srgbClr val="16161F"/>
          </a:solidFill>
          <a:ln w="12700">
            <a:solidFill>
              <a:srgbClr val="1A1A2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58952" y="1371600"/>
            <a:ext cx="585216" cy="585216"/>
          </a:xfrm>
          <a:prstGeom prst="ellipse">
            <a:avLst/>
          </a:prstGeom>
          <a:solidFill>
            <a:srgbClr val="E8C55A"/>
          </a:solidFill>
          <a:ln w="12700">
            <a:solidFill>
              <a:srgbClr val="E8C5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8952" y="137160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A0A0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47472" y="2103120"/>
            <a:ext cx="1408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kern="0" spc="50" dirty="0">
                <a:solidFill>
                  <a:srgbClr val="E8C55A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Tokenizare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2651760"/>
            <a:ext cx="1371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9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Titlu + plot + genuri → tokeni curați, fără stopwords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874520" y="1188720"/>
            <a:ext cx="1554480" cy="2743200"/>
          </a:xfrm>
          <a:prstGeom prst="rect">
            <a:avLst/>
          </a:prstGeom>
          <a:solidFill>
            <a:srgbClr val="16161F"/>
          </a:solidFill>
          <a:ln w="12700">
            <a:solidFill>
              <a:srgbClr val="1A1A2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359152" y="1371600"/>
            <a:ext cx="585216" cy="585216"/>
          </a:xfrm>
          <a:prstGeom prst="ellipse">
            <a:avLst/>
          </a:prstGeom>
          <a:solidFill>
            <a:srgbClr val="E8C55A"/>
          </a:solidFill>
          <a:ln w="12700">
            <a:solidFill>
              <a:srgbClr val="E8C55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59152" y="137160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A0A0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947672" y="2103120"/>
            <a:ext cx="1408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kern="0" spc="50" dirty="0">
                <a:solidFill>
                  <a:srgbClr val="E8C55A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Skip-Gram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965960" y="2651760"/>
            <a:ext cx="1371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9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Word2Vec antrenat: vector_size=100, window=7, epochs=10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474720" y="1188720"/>
            <a:ext cx="1554480" cy="2743200"/>
          </a:xfrm>
          <a:prstGeom prst="rect">
            <a:avLst/>
          </a:prstGeom>
          <a:solidFill>
            <a:srgbClr val="16161F"/>
          </a:solidFill>
          <a:ln w="12700">
            <a:solidFill>
              <a:srgbClr val="1A1A2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959352" y="1371600"/>
            <a:ext cx="585216" cy="585216"/>
          </a:xfrm>
          <a:prstGeom prst="ellipse">
            <a:avLst/>
          </a:prstGeom>
          <a:solidFill>
            <a:srgbClr val="E8C55A"/>
          </a:solidFill>
          <a:ln w="12700">
            <a:solidFill>
              <a:srgbClr val="E8C55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59352" y="137160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A0A0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547872" y="2103120"/>
            <a:ext cx="1408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kern="0" spc="50" dirty="0">
                <a:solidFill>
                  <a:srgbClr val="E8C55A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Vector Film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566160" y="2651760"/>
            <a:ext cx="1371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9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vectorilor tuturor tokenilor din textul filmului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074920" y="1188720"/>
            <a:ext cx="1554480" cy="2743200"/>
          </a:xfrm>
          <a:prstGeom prst="rect">
            <a:avLst/>
          </a:prstGeom>
          <a:solidFill>
            <a:srgbClr val="16161F"/>
          </a:solidFill>
          <a:ln w="12700">
            <a:solidFill>
              <a:srgbClr val="1A1A2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559552" y="1371600"/>
            <a:ext cx="585216" cy="585216"/>
          </a:xfrm>
          <a:prstGeom prst="ellipse">
            <a:avLst/>
          </a:prstGeom>
          <a:solidFill>
            <a:srgbClr val="E8C55A"/>
          </a:solidFill>
          <a:ln w="12700">
            <a:solidFill>
              <a:srgbClr val="E8C55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59552" y="137160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A0A0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148072" y="2103120"/>
            <a:ext cx="1408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kern="0" spc="50" dirty="0">
                <a:solidFill>
                  <a:srgbClr val="E8C55A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Normalizare L2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166360" y="2651760"/>
            <a:ext cx="1371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9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Fiecare vector împărțit la norma sa → lungime unitară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675120" y="1188720"/>
            <a:ext cx="1554480" cy="2743200"/>
          </a:xfrm>
          <a:prstGeom prst="rect">
            <a:avLst/>
          </a:prstGeom>
          <a:solidFill>
            <a:srgbClr val="16161F"/>
          </a:solidFill>
          <a:ln w="12700">
            <a:solidFill>
              <a:srgbClr val="1A1A2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159752" y="1371600"/>
            <a:ext cx="585216" cy="585216"/>
          </a:xfrm>
          <a:prstGeom prst="ellipse">
            <a:avLst/>
          </a:prstGeom>
          <a:solidFill>
            <a:srgbClr val="E8C55A"/>
          </a:solidFill>
          <a:ln w="12700">
            <a:solidFill>
              <a:srgbClr val="E8C55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159752" y="137160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A0A0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748272" y="2103120"/>
            <a:ext cx="1408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kern="0" spc="50" dirty="0">
                <a:solidFill>
                  <a:srgbClr val="E8C55A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Cosine Sim.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766560" y="2651760"/>
            <a:ext cx="1371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9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Dot product între vectori normalizați = similaritate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74320" y="4160520"/>
            <a:ext cx="8595360" cy="685800"/>
          </a:xfrm>
          <a:prstGeom prst="rect">
            <a:avLst/>
          </a:prstGeom>
          <a:solidFill>
            <a:srgbClr val="12121A"/>
          </a:solidFill>
          <a:ln w="12700">
            <a:solidFill>
              <a:srgbClr val="1A1A2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2062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8C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Parametri model: Skip-Gram (sg=1)  |  vector_size=100  |  window=7  |  min_count=2  |  epochs=10  |  workers=4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C55A"/>
          </a:solidFill>
        </p:spPr>
      </p:sp>
      <p:sp>
        <p:nvSpPr>
          <p:cNvPr id="3" name="Title"/>
          <p:cNvSpPr/>
          <p:nvPr/>
        </p:nvSpPr>
        <p:spPr>
          <a:xfrm>
            <a:off x="365760" y="220000"/>
            <a:ext cx="8412480" cy="5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0EEE8"/>
                </a:solidFill>
                <a:latin typeface="Impact"/>
              </a:rPr>
              <a:t>Word2Vec — Functiile din Cod</a:t>
            </a:r>
          </a:p>
        </p:txBody>
      </p:sp>
      <p:sp>
        <p:nvSpPr>
          <p:cNvPr id="4" name="Left"/>
          <p:cNvSpPr/>
          <p:nvPr/>
        </p:nvSpPr>
        <p:spPr>
          <a:xfrm>
            <a:off x="365760" y="900000"/>
            <a:ext cx="4000000" cy="4000000"/>
          </a:xfrm>
          <a:prstGeom prst="rect">
            <a:avLst/>
          </a:prstGeom>
          <a:solidFill>
            <a:srgbClr val="12121A"/>
          </a:solidFill>
          <a:ln w="19050">
            <a:solidFill>
              <a:srgbClr val="E8C55A"/>
            </a:solidFill>
          </a:ln>
        </p:spPr>
        <p:txBody>
          <a:bodyPr wrap="square" lIns="180000" tIns="160000" rIns="180000" bIns="16000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E8C55A"/>
                </a:solidFill>
                <a:latin typeface="Consolas"/>
              </a:rPr>
              <a:t>tokenizeaza(text)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9994A8"/>
                </a:solidFill>
                <a:latin typeface="Calibri"/>
              </a:rPr>
              <a:t>Text brut spre litere mici, elimina punctuatia, imparte in cuvinte, filtreaza stopwords si tokeni mai scurti de 3 caractere.</a:t>
            </a:r>
          </a:p>
          <a:p>
            <a:pPr marL="0" indent="0">
              <a:buNone/>
            </a:pPr>
            <a:r>
              <a:rPr lang="en-US" sz="600" dirty="0">
                <a:solidFill>
                  <a:srgbClr val="1A1A26"/>
                </a:solidFill>
              </a:rPr>
              <a:t xml:space="preserve"> </a:t>
            </a:r>
          </a:p>
          <a:p>
            <a:pPr marL="0" indent="0">
              <a:buNone/>
            </a:pPr>
            <a:r>
              <a:rPr lang="en-US" sz="1500" b="1" dirty="0">
                <a:solidFill>
                  <a:srgbClr val="E8C55A"/>
                </a:solidFill>
                <a:latin typeface="Consolas"/>
              </a:rPr>
              <a:t>antreneazaWord2Vec(corpus)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9994A8"/>
                </a:solidFill>
                <a:latin typeface="Calibri"/>
              </a:rPr>
              <a:t>Primeste corpusul tokenizat. Antreneaza Gensim Word2Vec: sg=1 (skip-gram), window=7, vector_size=100, epochs=10, workers=4.</a:t>
            </a:r>
          </a:p>
          <a:p>
            <a:pPr marL="0" indent="0">
              <a:buNone/>
            </a:pPr>
            <a:r>
              <a:rPr lang="en-US" sz="600" dirty="0">
                <a:solidFill>
                  <a:srgbClr val="1A1A26"/>
                </a:solidFill>
              </a:rPr>
              <a:t xml:space="preserve"> </a:t>
            </a:r>
          </a:p>
          <a:p>
            <a:pPr marL="0" indent="0">
              <a:buNone/>
            </a:pPr>
            <a:r>
              <a:rPr lang="en-US" sz="1500" b="1" dirty="0">
                <a:solidFill>
                  <a:srgbClr val="E8C55A"/>
                </a:solidFill>
                <a:latin typeface="Consolas"/>
              </a:rPr>
              <a:t>vectorFilm(tokeni, model)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9994A8"/>
                </a:solidFill>
                <a:latin typeface="Calibri"/>
              </a:rPr>
              <a:t>Extrage vectorul W2V al fiecarui token din vocabular, calculeaza media cu np.mean(axis=0). Returneaza vector numpy dim=100.</a:t>
            </a:r>
          </a:p>
        </p:txBody>
      </p:sp>
      <p:sp>
        <p:nvSpPr>
          <p:cNvPr id="5" name="Right"/>
          <p:cNvSpPr/>
          <p:nvPr/>
        </p:nvSpPr>
        <p:spPr>
          <a:xfrm>
            <a:off x="4548960" y="900000"/>
            <a:ext cx="4200000" cy="4000000"/>
          </a:xfrm>
          <a:prstGeom prst="rect">
            <a:avLst/>
          </a:prstGeom>
          <a:solidFill>
            <a:srgbClr val="12121A"/>
          </a:solidFill>
          <a:ln w="19050">
            <a:solidFill>
              <a:srgbClr val="E8C55A"/>
            </a:solidFill>
          </a:ln>
        </p:spPr>
        <p:txBody>
          <a:bodyPr wrap="square" lIns="180000" tIns="160000" rIns="180000" bIns="16000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E8C55A"/>
                </a:solidFill>
                <a:latin typeface="Consolas"/>
              </a:rPr>
              <a:t>normalizeazaL2(vector)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9994A8"/>
                </a:solidFill>
                <a:latin typeface="Calibri"/>
              </a:rPr>
              <a:t>Imparte fiecare componenta la np.linalg.norm(). Rezultat: vector cu lungime 1. Permite cosine similarity prin simplu dot product.</a:t>
            </a:r>
          </a:p>
          <a:p>
            <a:pPr marL="0" indent="0">
              <a:buNone/>
            </a:pPr>
            <a:r>
              <a:rPr lang="en-US" sz="600" dirty="0">
                <a:solidFill>
                  <a:srgbClr val="1A1A26"/>
                </a:solidFill>
              </a:rPr>
              <a:t xml:space="preserve"> </a:t>
            </a:r>
          </a:p>
          <a:p>
            <a:pPr marL="0" indent="0">
              <a:buNone/>
            </a:pPr>
            <a:r>
              <a:rPr lang="en-US" sz="1500" b="1" dirty="0">
                <a:solidFill>
                  <a:srgbClr val="E8C55A"/>
                </a:solidFill>
                <a:latin typeface="Consolas"/>
              </a:rPr>
              <a:t>similaritateeCosinus(a, b)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9994A8"/>
                </a:solidFill>
                <a:latin typeface="Calibri"/>
              </a:rPr>
              <a:t>np.dot(vec_a, vec_b). Vectorii normalizati L2: dot product = cosine similarity. Returneaza float 0 (total diferit) pana la 1 (identic).</a:t>
            </a:r>
          </a:p>
          <a:p>
            <a:pPr marL="0" indent="0">
              <a:buNone/>
            </a:pPr>
            <a:r>
              <a:rPr lang="en-US" sz="600" dirty="0">
                <a:solidFill>
                  <a:srgbClr val="1A1A26"/>
                </a:solidFill>
              </a:rPr>
              <a:t xml:space="preserve"> </a:t>
            </a:r>
          </a:p>
          <a:p>
            <a:pPr marL="0" indent="0">
              <a:buNone/>
            </a:pPr>
            <a:r>
              <a:rPr lang="en-US" sz="1500" b="1" dirty="0">
                <a:solidFill>
                  <a:srgbClr val="E8C55A"/>
                </a:solidFill>
                <a:latin typeface="Consolas"/>
              </a:rPr>
              <a:t>construiesteVectoriFilme()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9994A8"/>
                </a:solidFill>
                <a:latin typeface="Calibri"/>
              </a:rPr>
              <a:t>Itereaza toate filmele, apeleaza vectorFilm() si normalizeazaL2(). Returneaza dict { film_id: vector } folosit la ranking.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C55A"/>
          </a:solidFill>
        </p:spPr>
      </p:sp>
      <p:sp>
        <p:nvSpPr>
          <p:cNvPr id="3" name="Title"/>
          <p:cNvSpPr/>
          <p:nvPr/>
        </p:nvSpPr>
        <p:spPr>
          <a:xfrm>
            <a:off x="365760" y="200000"/>
            <a:ext cx="8412480" cy="5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0EEE8"/>
                </a:solidFill>
                <a:latin typeface="Impact"/>
              </a:rPr>
              <a:t>Cum functioneaza Recommendations</a:t>
            </a:r>
          </a:p>
        </p:txBody>
      </p:sp>
      <p:sp>
        <p:nvSpPr>
          <p:cNvPr id="4" name="S1"/>
          <p:cNvSpPr/>
          <p:nvPr/>
        </p:nvSpPr>
        <p:spPr>
          <a:xfrm>
            <a:off x="365760" y="860000"/>
            <a:ext cx="1750000" cy="640000"/>
          </a:xfrm>
          <a:prstGeom prst="rect">
            <a:avLst/>
          </a:prstGeom>
          <a:solidFill>
            <a:srgbClr val="E8C55A"/>
          </a:solidFill>
        </p:spPr>
        <p:txBody>
          <a:bodyPr wrap="square" lIns="100000" tIns="80000" rIns="100000" bIns="800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0A0F"/>
                </a:solidFill>
                <a:latin typeface="Impact"/>
              </a:rPr>
              <a:t>1. localStorage</a:t>
            </a:r>
          </a:p>
        </p:txBody>
      </p:sp>
      <p:sp>
        <p:nvSpPr>
          <p:cNvPr id="5" name="Arr1"/>
          <p:cNvSpPr/>
          <p:nvPr/>
        </p:nvSpPr>
        <p:spPr>
          <a:xfrm>
            <a:off x="2190760" y="1080000"/>
            <a:ext cx="34000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E8C55A"/>
                </a:solidFill>
                <a:latin typeface="Impact"/>
              </a:rPr>
              <a:t>→</a:t>
            </a:r>
          </a:p>
        </p:txBody>
      </p:sp>
      <p:sp>
        <p:nvSpPr>
          <p:cNvPr id="6" name="S2"/>
          <p:cNvSpPr/>
          <p:nvPr/>
        </p:nvSpPr>
        <p:spPr>
          <a:xfrm>
            <a:off x="2590760" y="860000"/>
            <a:ext cx="1750000" cy="640000"/>
          </a:xfrm>
          <a:prstGeom prst="rect">
            <a:avLst/>
          </a:prstGeom>
          <a:solidFill>
            <a:srgbClr val="E8C55A"/>
          </a:solidFill>
        </p:spPr>
        <p:txBody>
          <a:bodyPr wrap="square" lIns="100000" tIns="80000" rIns="100000" bIns="800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0A0F"/>
                </a:solidFill>
                <a:latin typeface="Impact"/>
              </a:rPr>
              <a:t>2. POST /api/recomandari</a:t>
            </a:r>
          </a:p>
        </p:txBody>
      </p:sp>
      <p:sp>
        <p:nvSpPr>
          <p:cNvPr id="7" name="Arr2"/>
          <p:cNvSpPr/>
          <p:nvPr/>
        </p:nvSpPr>
        <p:spPr>
          <a:xfrm>
            <a:off x="4415760" y="1080000"/>
            <a:ext cx="34000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E8C55A"/>
                </a:solidFill>
                <a:latin typeface="Impact"/>
              </a:rPr>
              <a:t>→</a:t>
            </a:r>
          </a:p>
        </p:txBody>
      </p:sp>
      <p:sp>
        <p:nvSpPr>
          <p:cNvPr id="8" name="S3"/>
          <p:cNvSpPr/>
          <p:nvPr/>
        </p:nvSpPr>
        <p:spPr>
          <a:xfrm>
            <a:off x="4815760" y="860000"/>
            <a:ext cx="1750000" cy="640000"/>
          </a:xfrm>
          <a:prstGeom prst="rect">
            <a:avLst/>
          </a:prstGeom>
          <a:solidFill>
            <a:srgbClr val="E8C55A"/>
          </a:solidFill>
        </p:spPr>
        <p:txBody>
          <a:bodyPr wrap="square" lIns="100000" tIns="80000" rIns="100000" bIns="800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0A0F"/>
                </a:solidFill>
                <a:latin typeface="Impact"/>
              </a:rPr>
              <a:t>3. genereazaRecomandari()</a:t>
            </a:r>
          </a:p>
        </p:txBody>
      </p:sp>
      <p:sp>
        <p:nvSpPr>
          <p:cNvPr id="9" name="Arr3"/>
          <p:cNvSpPr/>
          <p:nvPr/>
        </p:nvSpPr>
        <p:spPr>
          <a:xfrm>
            <a:off x="6640760" y="1080000"/>
            <a:ext cx="34000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E8C55A"/>
                </a:solidFill>
                <a:latin typeface="Impact"/>
              </a:rPr>
              <a:t>→</a:t>
            </a:r>
          </a:p>
        </p:txBody>
      </p:sp>
      <p:sp>
        <p:nvSpPr>
          <p:cNvPr id="10" name="S4"/>
          <p:cNvSpPr/>
          <p:nvPr/>
        </p:nvSpPr>
        <p:spPr>
          <a:xfrm>
            <a:off x="7040760" y="860000"/>
            <a:ext cx="1700000" cy="640000"/>
          </a:xfrm>
          <a:prstGeom prst="rect">
            <a:avLst/>
          </a:prstGeom>
          <a:solidFill>
            <a:srgbClr val="E8C55A"/>
          </a:solidFill>
        </p:spPr>
        <p:txBody>
          <a:bodyPr wrap="square" lIns="100000" tIns="80000" rIns="100000" bIns="800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0A0F"/>
                </a:solidFill>
                <a:latin typeface="Impact"/>
              </a:rPr>
              <a:t>4. Top 20 Filme</a:t>
            </a:r>
          </a:p>
        </p:txBody>
      </p:sp>
      <p:sp>
        <p:nvSpPr>
          <p:cNvPr id="11" name="D1"/>
          <p:cNvSpPr/>
          <p:nvPr/>
        </p:nvSpPr>
        <p:spPr>
          <a:xfrm>
            <a:off x="365760" y="1620000"/>
            <a:ext cx="1750000" cy="3200000"/>
          </a:xfrm>
          <a:prstGeom prst="rect">
            <a:avLst/>
          </a:prstGeom>
          <a:solidFill>
            <a:srgbClr val="12121A"/>
          </a:solidFill>
          <a:ln w="12700">
            <a:solidFill>
              <a:srgbClr val="E8C55A"/>
            </a:solidFill>
          </a:ln>
        </p:spPr>
        <p:txBody>
          <a:bodyPr wrap="square" lIns="150000" tIns="140000" rIns="150000" bIns="14000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E8C55A"/>
                </a:solidFill>
                <a:latin typeface="Calibri"/>
              </a:rPr>
              <a:t>luaLista()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9994A8"/>
                </a:solidFill>
                <a:latin typeface="Calibri"/>
              </a:rPr>
              <a:t>Citeste din localStorage cheia cm_utilizatori. Returneaza array de movie_id-uri salvate de utilizatorul curent.</a:t>
            </a:r>
          </a:p>
          <a:p>
            <a:pPr marL="0" indent="0">
              <a:buNone/>
            </a:pPr>
            <a:r>
              <a:rPr lang="en-US" sz="600" dirty="0">
                <a:solidFill>
                  <a:srgbClr val="1A1A26"/>
                </a:solidFill>
              </a:rPr>
              <a:t xml:space="preserve"> </a:t>
            </a:r>
          </a:p>
          <a:p>
            <a:pPr marL="0" indent="0">
              <a:buNone/>
            </a:pPr>
            <a:r>
              <a:rPr lang="en-US" sz="1300" b="1" dirty="0">
                <a:solidFill>
                  <a:srgbClr val="E8C55A"/>
                </a:solidFill>
                <a:latin typeface="Calibri"/>
              </a:rPr>
              <a:t>incarcaRecomandari()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9994A8"/>
                </a:solidFill>
                <a:latin typeface="Calibri"/>
              </a:rPr>
              <a:t>Daca lista e goala, afiseaza mesaj gol. Altfel face POST la Flask cu array-ul de ID-uri.</a:t>
            </a:r>
          </a:p>
        </p:txBody>
      </p:sp>
      <p:sp>
        <p:nvSpPr>
          <p:cNvPr id="12" name="D2"/>
          <p:cNvSpPr/>
          <p:nvPr/>
        </p:nvSpPr>
        <p:spPr>
          <a:xfrm>
            <a:off x="2270760" y="1620000"/>
            <a:ext cx="2070000" cy="3200000"/>
          </a:xfrm>
          <a:prstGeom prst="rect">
            <a:avLst/>
          </a:prstGeom>
          <a:solidFill>
            <a:srgbClr val="12121A"/>
          </a:solidFill>
          <a:ln w="12700">
            <a:solidFill>
              <a:srgbClr val="E8C55A"/>
            </a:solidFill>
          </a:ln>
        </p:spPr>
        <p:txBody>
          <a:bodyPr wrap="square" lIns="150000" tIns="140000" rIns="150000" bIns="14000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E8C55A"/>
                </a:solidFill>
                <a:latin typeface="Calibri"/>
              </a:rPr>
              <a:t>POST /api/recomandari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9994A8"/>
                </a:solidFill>
                <a:latin typeface="Calibri"/>
              </a:rPr>
              <a:t>Primeste JSON:</a:t>
            </a:r>
          </a:p>
          <a:p>
            <a:pPr marL="0" indent="0">
              <a:buNone/>
            </a:pPr>
            <a:r>
              <a:rPr lang="en-US" sz="1050" i="1" dirty="0">
                <a:solidFill>
                  <a:srgbClr val="6DC87A"/>
                </a:solidFill>
                <a:latin typeface="Consolas"/>
              </a:rPr>
              <a:t>{ "lista": [1, 45, 203] }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9994A8"/>
                </a:solidFill>
                <a:latin typeface="Calibri"/>
              </a:rPr>
              <a:t>Valideaza ca lista exista, apeleaza genereazaRecomandari() si returneaza top 20.</a:t>
            </a:r>
          </a:p>
          <a:p>
            <a:pPr marL="0" indent="0">
              <a:buNone/>
            </a:pPr>
            <a:r>
              <a:rPr lang="en-US" sz="600" dirty="0">
                <a:solidFill>
                  <a:srgbClr val="1A1A26"/>
                </a:solidFill>
              </a:rPr>
              <a:t xml:space="preserve"> 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9994A8"/>
                </a:solidFill>
                <a:latin typeface="Calibri"/>
              </a:rPr>
              <a:t>Returneaza JSON:</a:t>
            </a:r>
          </a:p>
          <a:p>
            <a:pPr marL="0" indent="0">
              <a:buNone/>
            </a:pPr>
            <a:r>
              <a:rPr lang="en-US" sz="1050" i="1" dirty="0">
                <a:solidFill>
                  <a:srgbClr val="6DC87A"/>
                </a:solidFill>
                <a:latin typeface="Consolas"/>
              </a:rPr>
              <a:t>{ recomandari: [...], total: 20 }</a:t>
            </a:r>
          </a:p>
        </p:txBody>
      </p:sp>
      <p:sp>
        <p:nvSpPr>
          <p:cNvPr id="13" name="D3"/>
          <p:cNvSpPr/>
          <p:nvPr/>
        </p:nvSpPr>
        <p:spPr>
          <a:xfrm>
            <a:off x="4495760" y="1620000"/>
            <a:ext cx="2070000" cy="3200000"/>
          </a:xfrm>
          <a:prstGeom prst="rect">
            <a:avLst/>
          </a:prstGeom>
          <a:solidFill>
            <a:srgbClr val="12121A"/>
          </a:solidFill>
          <a:ln w="12700">
            <a:solidFill>
              <a:srgbClr val="E8C55A"/>
            </a:solidFill>
          </a:ln>
        </p:spPr>
        <p:txBody>
          <a:bodyPr wrap="square" lIns="150000" tIns="140000" rIns="150000" bIns="14000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E8C55A"/>
                </a:solidFill>
                <a:latin typeface="Calibri"/>
              </a:rPr>
              <a:t>genereazaRecomandari()</a:t>
            </a:r>
          </a:p>
          <a:p>
            <a:pPr marL="0" indent="0">
              <a:buNone/>
            </a:pPr>
            <a:r>
              <a:rPr lang="en-US" sz="1100" b="1" dirty="0">
                <a:solidFill>
                  <a:srgbClr val="F0EEE8"/>
                </a:solidFill>
                <a:latin typeface="Calibri"/>
              </a:rPr>
              <a:t>Pas 1 — Profilul user: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9994A8"/>
                </a:solidFill>
                <a:latin typeface="Calibri"/>
              </a:rPr>
              <a:t>Ia vectorii W2V ai filmelor din lista. Calculeaza media lor cu np.mean(). Normalizeaza L2.</a:t>
            </a:r>
          </a:p>
          <a:p>
            <a:pPr marL="0" indent="0">
              <a:buNone/>
            </a:pPr>
            <a:r>
              <a:rPr lang="en-US" sz="600" dirty="0">
                <a:solidFill>
                  <a:srgbClr val="1A1A26"/>
                </a:solidFill>
              </a:rPr>
              <a:t xml:space="preserve"> </a:t>
            </a:r>
          </a:p>
          <a:p>
            <a:pPr marL="0" indent="0">
              <a:buNone/>
            </a:pPr>
            <a:r>
              <a:rPr lang="en-US" sz="1100" b="1" dirty="0">
                <a:solidFill>
                  <a:srgbClr val="F0EEE8"/>
                </a:solidFill>
                <a:latin typeface="Calibri"/>
              </a:rPr>
              <a:t>Pas 2 — Scoring: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9994A8"/>
                </a:solidFill>
                <a:latin typeface="Calibri"/>
              </a:rPr>
              <a:t>Cosine similarity intre profil si vectorul fiecarui film din cache. Sare filmele deja in lista.</a:t>
            </a:r>
          </a:p>
          <a:p>
            <a:pPr marL="0" indent="0">
              <a:buNone/>
            </a:pPr>
            <a:r>
              <a:rPr lang="en-US" sz="600" dirty="0">
                <a:solidFill>
                  <a:srgbClr val="1A1A26"/>
                </a:solidFill>
              </a:rPr>
              <a:t xml:space="preserve"> </a:t>
            </a:r>
          </a:p>
          <a:p>
            <a:pPr marL="0" indent="0">
              <a:buNone/>
            </a:pPr>
            <a:r>
              <a:rPr lang="en-US" sz="1100" b="1" dirty="0">
                <a:solidFill>
                  <a:srgbClr val="F0EEE8"/>
                </a:solidFill>
                <a:latin typeface="Calibri"/>
              </a:rPr>
              <a:t>Pas 3 — Sortare: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9994A8"/>
                </a:solidFill>
                <a:latin typeface="Calibri"/>
              </a:rPr>
              <a:t>Sorteaza descrescator dupa scor. Returneaza primele top_n=20 obiecte film.</a:t>
            </a:r>
          </a:p>
        </p:txBody>
      </p:sp>
      <p:sp>
        <p:nvSpPr>
          <p:cNvPr id="14" name="D4"/>
          <p:cNvSpPr/>
          <p:nvPr/>
        </p:nvSpPr>
        <p:spPr>
          <a:xfrm>
            <a:off x="6720760" y="1620000"/>
            <a:ext cx="2020000" cy="3200000"/>
          </a:xfrm>
          <a:prstGeom prst="rect">
            <a:avLst/>
          </a:prstGeom>
          <a:solidFill>
            <a:srgbClr val="12121A"/>
          </a:solidFill>
          <a:ln w="12700">
            <a:solidFill>
              <a:srgbClr val="E8C55A"/>
            </a:solidFill>
          </a:ln>
        </p:spPr>
        <p:txBody>
          <a:bodyPr wrap="square" lIns="150000" tIns="140000" rIns="150000" bIns="14000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E8C55A"/>
                </a:solidFill>
                <a:latin typeface="Calibri"/>
              </a:rPr>
              <a:t>Randare UI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9994A8"/>
                </a:solidFill>
                <a:latin typeface="Calibri"/>
              </a:rPr>
              <a:t>JS primeste array-ul de filme. Apeleaza creeazaCard() pentru fiecare.</a:t>
            </a:r>
          </a:p>
          <a:p>
            <a:pPr marL="0" indent="0">
              <a:buNone/>
            </a:pPr>
            <a:r>
              <a:rPr lang="en-US" sz="600" dirty="0">
                <a:solidFill>
                  <a:srgbClr val="1A1A26"/>
                </a:solidFill>
              </a:rPr>
              <a:t xml:space="preserve"> 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9994A8"/>
                </a:solidFill>
                <a:latin typeface="Calibri"/>
              </a:rPr>
              <a:t>Fiecare card afiseaza: poster (TMDB), titlu, an, gen, rating.</a:t>
            </a:r>
          </a:p>
          <a:p>
            <a:pPr marL="0" indent="0">
              <a:buNone/>
            </a:pPr>
            <a:r>
              <a:rPr lang="en-US" sz="600" dirty="0">
                <a:solidFill>
                  <a:srgbClr val="1A1A26"/>
                </a:solidFill>
              </a:rPr>
              <a:t xml:space="preserve"> 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9994A8"/>
                </a:solidFill>
                <a:latin typeface="Calibri"/>
              </a:rPr>
              <a:t>Click pe card → deschideModal() → GET /api/film/id → detalii complete + distributie TMDB.</a:t>
            </a:r>
          </a:p>
          <a:p>
            <a:pPr marL="0" indent="0">
              <a:buNone/>
            </a:pPr>
            <a:r>
              <a:rPr lang="en-US" sz="600" dirty="0">
                <a:solidFill>
                  <a:srgbClr val="1A1A26"/>
                </a:solidFill>
              </a:rPr>
              <a:t xml:space="preserve"> 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9994A8"/>
                </a:solidFill>
                <a:latin typeface="Calibri"/>
              </a:rPr>
              <a:t>Se reapeleaza la fiecare switch pe sectiunea Recommendations.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05555"/>
          </a:solidFill>
        </p:spPr>
      </p:sp>
      <p:sp>
        <p:nvSpPr>
          <p:cNvPr id="3" name="Title"/>
          <p:cNvSpPr/>
          <p:nvPr/>
        </p:nvSpPr>
        <p:spPr>
          <a:xfrm>
            <a:off x="365760" y="220000"/>
            <a:ext cx="8412480" cy="5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0EEE8"/>
                </a:solidFill>
                <a:latin typeface="Impact"/>
              </a:rPr>
              <a:t>Problem</a:t>
            </a:r>
            <a:r>
              <a:rPr lang="ro-RO" sz="3200" b="1" dirty="0">
                <a:solidFill>
                  <a:srgbClr val="F0EEE8"/>
                </a:solidFill>
                <a:latin typeface="Impact"/>
              </a:rPr>
              <a:t>e Întâmpinate</a:t>
            </a:r>
            <a:endParaRPr lang="en-US" sz="3200" b="1" dirty="0">
              <a:solidFill>
                <a:srgbClr val="F0EEE8"/>
              </a:solidFill>
              <a:latin typeface="Impact"/>
            </a:endParaRPr>
          </a:p>
        </p:txBody>
      </p:sp>
      <p:sp>
        <p:nvSpPr>
          <p:cNvPr id="4" name="Problem"/>
          <p:cNvSpPr/>
          <p:nvPr/>
        </p:nvSpPr>
        <p:spPr>
          <a:xfrm>
            <a:off x="365760" y="900000"/>
            <a:ext cx="3800000" cy="3900000"/>
          </a:xfrm>
          <a:prstGeom prst="rect">
            <a:avLst/>
          </a:prstGeom>
          <a:solidFill>
            <a:srgbClr val="12121A"/>
          </a:solidFill>
          <a:ln w="19050">
            <a:solidFill>
              <a:srgbClr val="E05555"/>
            </a:solidFill>
          </a:ln>
        </p:spPr>
        <p:txBody>
          <a:bodyPr wrap="square" lIns="180000" tIns="160000" rIns="180000" bIns="16000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E05555"/>
                </a:solidFill>
                <a:latin typeface="Impact"/>
              </a:rPr>
              <a:t>PROBLEMA</a:t>
            </a:r>
            <a:r>
              <a:rPr lang="ro-RO" sz="1600" b="1" dirty="0">
                <a:solidFill>
                  <a:srgbClr val="E05555"/>
                </a:solidFill>
                <a:latin typeface="Impact"/>
              </a:rPr>
              <a:t xml:space="preserve"> 1</a:t>
            </a:r>
            <a:endParaRPr lang="en-US" sz="1600" b="1" dirty="0">
              <a:solidFill>
                <a:srgbClr val="E05555"/>
              </a:solidFill>
              <a:latin typeface="Impact"/>
            </a:endParaRPr>
          </a:p>
          <a:p>
            <a:pPr marL="0" indent="0">
              <a:buNone/>
            </a:pPr>
            <a:r>
              <a:rPr lang="en-US" sz="1300" dirty="0">
                <a:solidFill>
                  <a:srgbClr val="9994A8"/>
                </a:solidFill>
                <a:latin typeface="Calibri"/>
              </a:rPr>
              <a:t>Titlurile din HuggingFace contin anul: "Toy Story (1995)". TMDB nu recunostea titlul cu an inclus si returna 0 rezultate.</a:t>
            </a:r>
          </a:p>
          <a:p>
            <a:pPr marL="0" indent="0">
              <a:buNone/>
            </a:pPr>
            <a:r>
              <a:rPr lang="en-US" sz="600" dirty="0">
                <a:solidFill>
                  <a:srgbClr val="1A1A26"/>
                </a:solidFill>
              </a:rPr>
              <a:t xml:space="preserve"> </a:t>
            </a:r>
          </a:p>
          <a:p>
            <a:pPr marL="0" indent="0">
              <a:buNone/>
            </a:pPr>
            <a:r>
              <a:rPr lang="en-US" sz="1600" b="1" dirty="0">
                <a:solidFill>
                  <a:srgbClr val="E05555"/>
                </a:solidFill>
                <a:latin typeface="Impact"/>
              </a:rPr>
              <a:t>PROBLEMA 2</a:t>
            </a:r>
          </a:p>
          <a:p>
            <a:pPr marL="0" indent="0">
              <a:buNone/>
            </a:pPr>
            <a:r>
              <a:rPr lang="en-US" sz="1300" dirty="0">
                <a:solidFill>
                  <a:srgbClr val="9994A8"/>
                </a:solidFill>
                <a:latin typeface="Calibri"/>
              </a:rPr>
              <a:t>Cautarea "movies with Tom Hanks" nu gasea nimic — regex-ul vechi cerea cuvinte trigger ("starring", "cu") exact inainte de nume.</a:t>
            </a:r>
          </a:p>
          <a:p>
            <a:pPr marL="0" indent="0">
              <a:buNone/>
            </a:pPr>
            <a:r>
              <a:rPr lang="en-US" sz="600" dirty="0">
                <a:solidFill>
                  <a:srgbClr val="1A1A26"/>
                </a:solidFill>
              </a:rPr>
              <a:t xml:space="preserve"> </a:t>
            </a:r>
          </a:p>
          <a:p>
            <a:pPr marL="0" indent="0">
              <a:buNone/>
            </a:pPr>
            <a:r>
              <a:rPr lang="en-US" sz="1600" b="1" dirty="0">
                <a:solidFill>
                  <a:srgbClr val="E05555"/>
                </a:solidFill>
                <a:latin typeface="Impact"/>
              </a:rPr>
              <a:t>PROBLEMA 3</a:t>
            </a:r>
          </a:p>
          <a:p>
            <a:pPr marL="0" indent="0">
              <a:buNone/>
            </a:pPr>
            <a:r>
              <a:rPr lang="en-US" sz="1300" dirty="0">
                <a:solidFill>
                  <a:srgbClr val="9994A8"/>
                </a:solidFill>
                <a:latin typeface="Calibri"/>
              </a:rPr>
              <a:t>Potrivirea exacta "Tom Hanks" esua daca dataset-ul stoca "Hanks, Tom" sau "T. Hanks" in campul stars.</a:t>
            </a:r>
          </a:p>
        </p:txBody>
      </p:sp>
      <p:sp>
        <p:nvSpPr>
          <p:cNvPr id="5" name="Fix"/>
          <p:cNvSpPr/>
          <p:nvPr/>
        </p:nvSpPr>
        <p:spPr>
          <a:xfrm>
            <a:off x="4348960" y="900000"/>
            <a:ext cx="4400000" cy="3900000"/>
          </a:xfrm>
          <a:prstGeom prst="rect">
            <a:avLst/>
          </a:prstGeom>
          <a:solidFill>
            <a:srgbClr val="12121A"/>
          </a:solidFill>
          <a:ln w="19050">
            <a:solidFill>
              <a:srgbClr val="6DC87A"/>
            </a:solidFill>
          </a:ln>
        </p:spPr>
        <p:txBody>
          <a:bodyPr wrap="square" lIns="180000" tIns="160000" rIns="180000" bIns="16000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6DC87A"/>
                </a:solidFill>
                <a:latin typeface="Impact"/>
              </a:rPr>
              <a:t>FIX 1 — curataTitlu()</a:t>
            </a:r>
          </a:p>
          <a:p>
            <a:pPr marL="0" indent="0">
              <a:buNone/>
            </a:pPr>
            <a:r>
              <a:rPr lang="en-US" sz="1300" dirty="0">
                <a:solidFill>
                  <a:srgbClr val="9994A8"/>
                </a:solidFill>
                <a:latin typeface="Calibri"/>
              </a:rPr>
              <a:t>Regex extrage titlul curat si anul separat. "Toy Story (1995)" devine ("Toy Story", "1995"). TMDB primeste titlul curat + year ca filtru optional.</a:t>
            </a:r>
          </a:p>
          <a:p>
            <a:pPr marL="0" indent="0">
              <a:buNone/>
            </a:pPr>
            <a:r>
              <a:rPr lang="en-US" sz="600" dirty="0">
                <a:solidFill>
                  <a:srgbClr val="1A1A26"/>
                </a:solidFill>
              </a:rPr>
              <a:t xml:space="preserve"> </a:t>
            </a:r>
          </a:p>
          <a:p>
            <a:pPr marL="0" indent="0">
              <a:buNone/>
            </a:pPr>
            <a:r>
              <a:rPr lang="en-US" sz="1600" b="1" dirty="0">
                <a:solidFill>
                  <a:srgbClr val="6DC87A"/>
                </a:solidFill>
                <a:latin typeface="Impact"/>
              </a:rPr>
              <a:t>FIX 2 — detectie extinsa</a:t>
            </a:r>
          </a:p>
          <a:p>
            <a:pPr marL="0" indent="0">
              <a:buNone/>
            </a:pPr>
            <a:r>
              <a:rPr lang="en-US" sz="1300" dirty="0">
                <a:solidFill>
                  <a:srgbClr val="9994A8"/>
                </a:solidFill>
                <a:latin typeface="Calibri"/>
              </a:rPr>
              <a:t>Adaugat pattern "with|starring|featuring|directed by" in engleza si "cu|regizat de" in romana. Detecteaza si Prenume Nume fara trigger explicit.</a:t>
            </a:r>
          </a:p>
          <a:p>
            <a:pPr marL="0" indent="0">
              <a:buNone/>
            </a:pPr>
            <a:r>
              <a:rPr lang="en-US" sz="600" dirty="0">
                <a:solidFill>
                  <a:srgbClr val="1A1A26"/>
                </a:solidFill>
              </a:rPr>
              <a:t xml:space="preserve"> </a:t>
            </a:r>
          </a:p>
          <a:p>
            <a:pPr marL="0" indent="0">
              <a:buNone/>
            </a:pPr>
            <a:r>
              <a:rPr lang="en-US" sz="1600" b="1" dirty="0">
                <a:solidFill>
                  <a:srgbClr val="6DC87A"/>
                </a:solidFill>
                <a:latin typeface="Impact"/>
              </a:rPr>
              <a:t>FIX 3 — potrivire partiala</a:t>
            </a:r>
          </a:p>
          <a:p>
            <a:pPr marL="0" indent="0">
              <a:buNone/>
            </a:pPr>
            <a:r>
              <a:rPr lang="en-US" sz="1300" dirty="0">
                <a:solidFill>
                  <a:srgbClr val="9994A8"/>
                </a:solidFill>
                <a:latin typeface="Calibri"/>
              </a:rPr>
              <a:t>"Tom Hanks" se imparte in ["Tom", "Hanks"]. Daca oricare parte (len &gt; 2) apare in campul stars/director, filmul e inclus ca potrivire.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05555"/>
          </a:solidFill>
        </p:spPr>
      </p:sp>
      <p:sp>
        <p:nvSpPr>
          <p:cNvPr id="3" name="Title"/>
          <p:cNvSpPr/>
          <p:nvPr/>
        </p:nvSpPr>
        <p:spPr>
          <a:xfrm>
            <a:off x="365760" y="220000"/>
            <a:ext cx="8412480" cy="5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0EEE8"/>
                </a:solidFill>
                <a:latin typeface="Impact"/>
              </a:rPr>
              <a:t xml:space="preserve">Word2Vec — Inputuri cu </a:t>
            </a:r>
            <a:r>
              <a:rPr lang="en-US" sz="3200" b="1" dirty="0" err="1">
                <a:solidFill>
                  <a:srgbClr val="F0EEE8"/>
                </a:solidFill>
                <a:latin typeface="Impact"/>
              </a:rPr>
              <a:t>Acurate</a:t>
            </a:r>
            <a:r>
              <a:rPr lang="ro-RO" sz="3200" b="1" dirty="0">
                <a:solidFill>
                  <a:srgbClr val="F0EEE8"/>
                </a:solidFill>
                <a:latin typeface="Impact"/>
              </a:rPr>
              <a:t>ț</a:t>
            </a:r>
            <a:r>
              <a:rPr lang="en-US" sz="3200" b="1" dirty="0">
                <a:solidFill>
                  <a:srgbClr val="F0EEE8"/>
                </a:solidFill>
                <a:latin typeface="Impact"/>
              </a:rPr>
              <a:t>e Sc</a:t>
            </a:r>
            <a:r>
              <a:rPr lang="ro-RO" sz="3200" b="1" dirty="0">
                <a:solidFill>
                  <a:srgbClr val="F0EEE8"/>
                </a:solidFill>
                <a:latin typeface="Impact"/>
              </a:rPr>
              <a:t>ă</a:t>
            </a:r>
            <a:r>
              <a:rPr lang="en-US" sz="3200" b="1" dirty="0" err="1">
                <a:solidFill>
                  <a:srgbClr val="F0EEE8"/>
                </a:solidFill>
                <a:latin typeface="Impact"/>
              </a:rPr>
              <a:t>zut</a:t>
            </a:r>
            <a:r>
              <a:rPr lang="ro-RO" sz="3200" b="1" dirty="0">
                <a:solidFill>
                  <a:srgbClr val="F0EEE8"/>
                </a:solidFill>
                <a:latin typeface="Impact"/>
              </a:rPr>
              <a:t>ă</a:t>
            </a:r>
            <a:endParaRPr lang="en-US" sz="3200" b="1" dirty="0">
              <a:solidFill>
                <a:srgbClr val="F0EEE8"/>
              </a:solidFill>
              <a:latin typeface="Impact"/>
            </a:endParaRPr>
          </a:p>
        </p:txBody>
      </p:sp>
      <p:sp>
        <p:nvSpPr>
          <p:cNvPr id="4" name="C1"/>
          <p:cNvSpPr/>
          <p:nvPr/>
        </p:nvSpPr>
        <p:spPr>
          <a:xfrm>
            <a:off x="365760" y="900000"/>
            <a:ext cx="3900000" cy="1750000"/>
          </a:xfrm>
          <a:prstGeom prst="rect">
            <a:avLst/>
          </a:prstGeom>
          <a:solidFill>
            <a:srgbClr val="16161F"/>
          </a:solidFill>
          <a:ln w="12700">
            <a:solidFill>
              <a:srgbClr val="E05555"/>
            </a:solidFill>
          </a:ln>
        </p:spPr>
        <p:txBody>
          <a:bodyPr wrap="square" lIns="160000" tIns="140000" rIns="160000" bIns="140000" rtlCol="0" anchor="t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E8C55A"/>
                </a:solidFill>
                <a:latin typeface="Consolas"/>
              </a:rPr>
              <a:t>“a boy who discovers he has magical powers”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9994A8"/>
                </a:solidFill>
                <a:latin typeface="Calibri"/>
              </a:rPr>
              <a:t>W2V trateaza "boy", "magical", "powers" ca cuvinte independente. Nu intelege ca impreuna descriu un arc narativ specific — rezulta filme random cu magie sau copii.</a:t>
            </a:r>
          </a:p>
        </p:txBody>
      </p:sp>
      <p:sp>
        <p:nvSpPr>
          <p:cNvPr id="5" name="C2"/>
          <p:cNvSpPr/>
          <p:nvPr/>
        </p:nvSpPr>
        <p:spPr>
          <a:xfrm>
            <a:off x="4448960" y="900000"/>
            <a:ext cx="4200000" cy="1750000"/>
          </a:xfrm>
          <a:prstGeom prst="rect">
            <a:avLst/>
          </a:prstGeom>
          <a:solidFill>
            <a:srgbClr val="16161F"/>
          </a:solidFill>
          <a:ln w="12700">
            <a:solidFill>
              <a:srgbClr val="E05555"/>
            </a:solidFill>
          </a:ln>
        </p:spPr>
        <p:txBody>
          <a:bodyPr wrap="square" lIns="160000" tIns="140000" rIns="160000" bIns="140000" rtlCol="0" anchor="t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E8C55A"/>
                </a:solidFill>
                <a:latin typeface="Consolas"/>
              </a:rPr>
              <a:t>“film trist despre pierderea unei persoane dragi”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9994A8"/>
                </a:solidFill>
                <a:latin typeface="Calibri"/>
              </a:rPr>
              <a:t>Query in romana — descrierile filmelor sunt in engleza. Cuvintele "trist", "pierderea", "dragi" nu exista in vocabularul W2V. Vectorul rezultat e aproape zero.</a:t>
            </a:r>
          </a:p>
        </p:txBody>
      </p:sp>
      <p:sp>
        <p:nvSpPr>
          <p:cNvPr id="6" name="C3"/>
          <p:cNvSpPr/>
          <p:nvPr/>
        </p:nvSpPr>
        <p:spPr>
          <a:xfrm>
            <a:off x="365760" y="2780000"/>
            <a:ext cx="3900000" cy="1800000"/>
          </a:xfrm>
          <a:prstGeom prst="rect">
            <a:avLst/>
          </a:prstGeom>
          <a:solidFill>
            <a:srgbClr val="16161F"/>
          </a:solidFill>
          <a:ln w="12700">
            <a:solidFill>
              <a:srgbClr val="E05555"/>
            </a:solidFill>
          </a:ln>
        </p:spPr>
        <p:txBody>
          <a:bodyPr wrap="square" lIns="160000" tIns="140000" rIns="160000" bIns="140000" rtlCol="0" anchor="t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E8C55A"/>
                </a:solidFill>
                <a:latin typeface="Consolas"/>
              </a:rPr>
              <a:t>“something like Inception but more emotional”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9994A8"/>
                </a:solidFill>
                <a:latin typeface="Calibri"/>
              </a:rPr>
              <a:t xml:space="preserve">W2V nu intelege referinte la titluri de filme sau comparatii relative ("more emotional"). "Inception" nu apare in plot-urile altor filme, deci nu ajuta la </a:t>
            </a:r>
            <a:r>
              <a:rPr lang="en-US" sz="1100" dirty="0" err="1">
                <a:solidFill>
                  <a:srgbClr val="9994A8"/>
                </a:solidFill>
                <a:latin typeface="Calibri"/>
              </a:rPr>
              <a:t>gasirea</a:t>
            </a:r>
            <a:r>
              <a:rPr lang="en-US" sz="1100" dirty="0">
                <a:solidFill>
                  <a:srgbClr val="9994A8"/>
                </a:solidFill>
                <a:latin typeface="Calibri"/>
              </a:rPr>
              <a:t xml:space="preserve"> </a:t>
            </a:r>
            <a:r>
              <a:rPr lang="ro-RO" sz="1100" dirty="0">
                <a:solidFill>
                  <a:srgbClr val="9994A8"/>
                </a:solidFill>
                <a:latin typeface="Calibri"/>
              </a:rPr>
              <a:t>altor filme similare</a:t>
            </a:r>
            <a:r>
              <a:rPr lang="en-US" sz="1100" dirty="0">
                <a:solidFill>
                  <a:srgbClr val="9994A8"/>
                </a:solidFill>
                <a:latin typeface="Calibri"/>
              </a:rPr>
              <a:t>.</a:t>
            </a:r>
          </a:p>
        </p:txBody>
      </p:sp>
      <p:sp>
        <p:nvSpPr>
          <p:cNvPr id="7" name="C4"/>
          <p:cNvSpPr/>
          <p:nvPr/>
        </p:nvSpPr>
        <p:spPr>
          <a:xfrm>
            <a:off x="4448960" y="2780000"/>
            <a:ext cx="4200000" cy="1800000"/>
          </a:xfrm>
          <a:prstGeom prst="rect">
            <a:avLst/>
          </a:prstGeom>
          <a:solidFill>
            <a:srgbClr val="16161F"/>
          </a:solidFill>
          <a:ln w="12700">
            <a:solidFill>
              <a:srgbClr val="E05555"/>
            </a:solidFill>
          </a:ln>
        </p:spPr>
        <p:txBody>
          <a:bodyPr wrap="square" lIns="160000" tIns="140000" rIns="160000" bIns="140000" rtlCol="0" anchor="t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E8C55A"/>
                </a:solidFill>
                <a:latin typeface="Consolas"/>
              </a:rPr>
              <a:t>“a man seeks revenge for the death of his family”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9994A8"/>
                </a:solidFill>
                <a:latin typeface="Calibri"/>
              </a:rPr>
              <a:t>Media vectorilor "man", "revenge", "death", "family" produce un centroid vag. W2V nu intelege ca "revenge" este motivatia, nu tema principala — confunda cu filme de familie sau crime generice.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C55A"/>
          </a:solidFill>
        </p:spPr>
      </p:sp>
      <p:sp>
        <p:nvSpPr>
          <p:cNvPr id="3" name="Title"/>
          <p:cNvSpPr/>
          <p:nvPr/>
        </p:nvSpPr>
        <p:spPr>
          <a:xfrm>
            <a:off x="365760" y="220000"/>
            <a:ext cx="8412480" cy="5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0EEE8"/>
                </a:solidFill>
                <a:latin typeface="Impact"/>
              </a:rPr>
              <a:t>SBERT vs Word2Vec — Comparatie</a:t>
            </a:r>
          </a:p>
        </p:txBody>
      </p:sp>
      <p:sp>
        <p:nvSpPr>
          <p:cNvPr id="4" name="H1"/>
          <p:cNvSpPr/>
          <p:nvPr/>
        </p:nvSpPr>
        <p:spPr>
          <a:xfrm>
            <a:off x="365760" y="880000"/>
            <a:ext cx="3800000" cy="380000"/>
          </a:xfrm>
          <a:prstGeom prst="rect">
            <a:avLst/>
          </a:prstGeom>
          <a:solidFill>
            <a:srgbClr val="12121A"/>
          </a:solidFill>
          <a:ln w="12700">
            <a:solidFill>
              <a:srgbClr val="9994A8"/>
            </a:solidFill>
          </a:ln>
        </p:spPr>
        <p:txBody>
          <a:bodyPr wrap="square" lIns="120000" tIns="80000" rIns="120000" bIns="8000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9994A8"/>
                </a:solidFill>
                <a:latin typeface="Impact"/>
              </a:rPr>
              <a:t>Word2Vec</a:t>
            </a:r>
          </a:p>
        </p:txBody>
      </p:sp>
      <p:sp>
        <p:nvSpPr>
          <p:cNvPr id="5" name="H2"/>
          <p:cNvSpPr/>
          <p:nvPr/>
        </p:nvSpPr>
        <p:spPr>
          <a:xfrm>
            <a:off x="4848960" y="880000"/>
            <a:ext cx="3800000" cy="380000"/>
          </a:xfrm>
          <a:prstGeom prst="rect">
            <a:avLst/>
          </a:prstGeom>
          <a:solidFill>
            <a:srgbClr val="1A1A26"/>
          </a:solidFill>
          <a:ln w="12700">
            <a:solidFill>
              <a:srgbClr val="E8C55A"/>
            </a:solidFill>
          </a:ln>
        </p:spPr>
        <p:txBody>
          <a:bodyPr wrap="square" lIns="120000" tIns="80000" rIns="120000" bIns="8000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C55A"/>
                </a:solidFill>
                <a:latin typeface="Impact"/>
              </a:rPr>
              <a:t>SBERT</a:t>
            </a:r>
          </a:p>
        </p:txBody>
      </p:sp>
      <p:sp>
        <p:nvSpPr>
          <p:cNvPr id="6" name="Q1"/>
          <p:cNvSpPr/>
          <p:nvPr/>
        </p:nvSpPr>
        <p:spPr>
          <a:xfrm>
            <a:off x="365760" y="1340000"/>
            <a:ext cx="4200000" cy="800000"/>
          </a:xfrm>
          <a:prstGeom prst="rect">
            <a:avLst/>
          </a:prstGeom>
          <a:solidFill>
            <a:srgbClr val="0F0F18"/>
          </a:solidFill>
          <a:ln w="6350">
            <a:solidFill>
              <a:srgbClr val="2A2A3A"/>
            </a:solidFill>
          </a:ln>
        </p:spPr>
        <p:txBody>
          <a:bodyPr wrap="square" lIns="140000" tIns="100000" rIns="140000" bIns="10000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EEE8"/>
                </a:solidFill>
                <a:latin typeface="Calibri"/>
              </a:rPr>
              <a:t xml:space="preserve">Query: </a:t>
            </a:r>
            <a:r>
              <a:rPr lang="en-US" sz="1100" i="1" dirty="0">
                <a:solidFill>
                  <a:srgbClr val="E8C55A"/>
                </a:solidFill>
                <a:latin typeface="Calibri"/>
              </a:rPr>
              <a:t>"a boy discovers magical powers at a special school"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9994A8"/>
                </a:solidFill>
                <a:latin typeface="Calibri"/>
              </a:rPr>
              <a:t>W2V: "boy","magical","school" — cuvinte fara context → rezultate mixte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6DC87A"/>
                </a:solidFill>
                <a:latin typeface="Calibri"/>
              </a:rPr>
              <a:t>SBERT: intelege intreaga structura narativa → Harry Potter first</a:t>
            </a:r>
          </a:p>
        </p:txBody>
      </p:sp>
      <p:sp>
        <p:nvSpPr>
          <p:cNvPr id="7" name="Q2"/>
          <p:cNvSpPr/>
          <p:nvPr/>
        </p:nvSpPr>
        <p:spPr>
          <a:xfrm>
            <a:off x="365760" y="2220000"/>
            <a:ext cx="4200000" cy="800000"/>
          </a:xfrm>
          <a:prstGeom prst="rect">
            <a:avLst/>
          </a:prstGeom>
          <a:solidFill>
            <a:srgbClr val="0F0F18"/>
          </a:solidFill>
          <a:ln w="6350">
            <a:solidFill>
              <a:srgbClr val="2A2A3A"/>
            </a:solidFill>
          </a:ln>
        </p:spPr>
        <p:txBody>
          <a:bodyPr wrap="square" lIns="140000" tIns="100000" rIns="140000" bIns="10000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EEE8"/>
                </a:solidFill>
                <a:latin typeface="Calibri"/>
              </a:rPr>
              <a:t xml:space="preserve">Query: </a:t>
            </a:r>
            <a:r>
              <a:rPr lang="en-US" sz="1100" i="1" dirty="0">
                <a:solidFill>
                  <a:srgbClr val="E8C55A"/>
                </a:solidFill>
                <a:latin typeface="Calibri"/>
              </a:rPr>
              <a:t>"unlikely friends go on a road trip and learn about life"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9994A8"/>
                </a:solidFill>
                <a:latin typeface="Calibri"/>
              </a:rPr>
              <a:t>W2V: "friends","road","trip" tratate separat → pierde arcul narativ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6DC87A"/>
                </a:solidFill>
                <a:latin typeface="Calibri"/>
              </a:rPr>
              <a:t>SBERT: intelege "buddy road trip" ca pattern → rezultate corecte</a:t>
            </a:r>
          </a:p>
        </p:txBody>
      </p:sp>
      <p:sp>
        <p:nvSpPr>
          <p:cNvPr id="8" name="Q3"/>
          <p:cNvSpPr/>
          <p:nvPr/>
        </p:nvSpPr>
        <p:spPr>
          <a:xfrm>
            <a:off x="365760" y="3100000"/>
            <a:ext cx="4200000" cy="800000"/>
          </a:xfrm>
          <a:prstGeom prst="rect">
            <a:avLst/>
          </a:prstGeom>
          <a:solidFill>
            <a:srgbClr val="0F0F18"/>
          </a:solidFill>
          <a:ln w="6350">
            <a:solidFill>
              <a:srgbClr val="2A2A3A"/>
            </a:solidFill>
          </a:ln>
        </p:spPr>
        <p:txBody>
          <a:bodyPr wrap="square" lIns="140000" tIns="100000" rIns="140000" bIns="10000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EEE8"/>
                </a:solidFill>
                <a:latin typeface="Calibri"/>
              </a:rPr>
              <a:t xml:space="preserve">Query: </a:t>
            </a:r>
            <a:r>
              <a:rPr lang="en-US" sz="1100" i="1" dirty="0">
                <a:solidFill>
                  <a:srgbClr val="E8C55A"/>
                </a:solidFill>
                <a:latin typeface="Calibri"/>
              </a:rPr>
              <a:t>"a scientist creates something that gets out of control"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9994A8"/>
                </a:solidFill>
                <a:latin typeface="Calibri"/>
              </a:rPr>
              <a:t>W2V: "scientist","control" → sci-fi generic fara tema horror/thriller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6DC87A"/>
                </a:solidFill>
                <a:latin typeface="Calibri"/>
              </a:rPr>
              <a:t>SBERT: "mad scientist" + "out of control" → Frankenstein, Jurassic Park</a:t>
            </a:r>
          </a:p>
        </p:txBody>
      </p:sp>
      <p:sp>
        <p:nvSpPr>
          <p:cNvPr id="9" name="Why"/>
          <p:cNvSpPr/>
          <p:nvPr/>
        </p:nvSpPr>
        <p:spPr>
          <a:xfrm>
            <a:off x="4748960" y="1340000"/>
            <a:ext cx="3900000" cy="2700000"/>
          </a:xfrm>
          <a:prstGeom prst="rect">
            <a:avLst/>
          </a:prstGeom>
          <a:solidFill>
            <a:srgbClr val="1A1A26"/>
          </a:solidFill>
          <a:ln w="19050">
            <a:solidFill>
              <a:srgbClr val="E8C55A"/>
            </a:solidFill>
          </a:ln>
        </p:spPr>
        <p:txBody>
          <a:bodyPr wrap="square" lIns="180000" tIns="160000" rIns="180000" bIns="16000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E8C55A"/>
                </a:solidFill>
                <a:latin typeface="Impact"/>
              </a:rPr>
              <a:t>De ce SBERT castiga?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9994A8"/>
                </a:solidFill>
                <a:latin typeface="Calibri"/>
              </a:rPr>
              <a:t>Word2Vec: fiecare cuvant are vectorul sau. Vectorul propozitiei = medie → se pierde relatia dintre cuvinte.</a:t>
            </a:r>
          </a:p>
          <a:p>
            <a:pPr marL="0" indent="0">
              <a:buNone/>
            </a:pPr>
            <a:r>
              <a:rPr lang="en-US" sz="600" dirty="0">
                <a:solidFill>
                  <a:srgbClr val="1A1A26"/>
                </a:solidFill>
              </a:rPr>
              <a:t xml:space="preserve"> 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9994A8"/>
                </a:solidFill>
                <a:latin typeface="Calibri"/>
              </a:rPr>
              <a:t>SBERT (Sentence-BERT): encodeza intreaga propozitie ca o unitate. Pre-antrenat pe miliarde de texte. Intelege context, ordine, sinonime.</a:t>
            </a:r>
          </a:p>
          <a:p>
            <a:pPr marL="0" indent="0">
              <a:buNone/>
            </a:pPr>
            <a:r>
              <a:rPr lang="en-US" sz="600" dirty="0">
                <a:solidFill>
                  <a:srgbClr val="1A1A26"/>
                </a:solidFill>
              </a:rPr>
              <a:t xml:space="preserve"> 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9994A8"/>
                </a:solidFill>
                <a:latin typeface="Calibri"/>
              </a:rPr>
              <a:t>Model folosit: paraphrase-multilingual-MiniLM-L12-v2. Suporta romana nativ fara traducere.</a:t>
            </a:r>
          </a:p>
          <a:p>
            <a:pPr marL="0" indent="0">
              <a:buNone/>
            </a:pPr>
            <a:r>
              <a:rPr lang="en-US" sz="600" dirty="0">
                <a:solidFill>
                  <a:srgbClr val="1A1A26"/>
                </a:solidFill>
              </a:rPr>
              <a:t xml:space="preserve"> </a:t>
            </a:r>
          </a:p>
          <a:p>
            <a:pPr marL="0" indent="0">
              <a:buNone/>
            </a:pPr>
            <a:r>
              <a:rPr lang="en-US" sz="1200" b="1" dirty="0">
                <a:solidFill>
                  <a:srgbClr val="E8C55A"/>
                </a:solidFill>
                <a:latin typeface="Calibri"/>
              </a:rPr>
              <a:t>W2V: clasic, rapid, antrenat pe corpus propriu. SBERT: modern, semantic, cross-lingual.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C55A"/>
          </a:solidFill>
          <a:ln w="12700">
            <a:solidFill>
              <a:srgbClr val="E8C5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kern="0" spc="200" dirty="0">
                <a:solidFill>
                  <a:srgbClr val="F0EEE8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API REST — Endpoint-uri Flask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8595360" cy="576072"/>
          </a:xfrm>
          <a:prstGeom prst="rect">
            <a:avLst/>
          </a:prstGeom>
          <a:solidFill>
            <a:srgbClr val="16161F"/>
          </a:solidFill>
          <a:ln w="12700">
            <a:solidFill>
              <a:srgbClr val="1A1A2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51560"/>
            <a:ext cx="777240" cy="576072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51560"/>
            <a:ext cx="7772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43000" y="1088136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C5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/api/filme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60520" y="1088136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9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Descarcă 500 filme, antrenează Word2Vec, lansează thread poster.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1709928"/>
            <a:ext cx="8595360" cy="576072"/>
          </a:xfrm>
          <a:prstGeom prst="rect">
            <a:avLst/>
          </a:prstGeom>
          <a:solidFill>
            <a:srgbClr val="16161F"/>
          </a:solidFill>
          <a:ln w="12700">
            <a:solidFill>
              <a:srgbClr val="1A1A2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1709928"/>
            <a:ext cx="777240" cy="576072"/>
          </a:xfrm>
          <a:prstGeom prst="rect">
            <a:avLst/>
          </a:prstGeom>
          <a:solidFill>
            <a:srgbClr val="1D3D6B"/>
          </a:solidFill>
          <a:ln w="12700">
            <a:solidFill>
              <a:srgbClr val="1D3D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709928"/>
            <a:ext cx="7772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43000" y="1746504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C5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/api/recomandari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160520" y="1746504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9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Primește IDs din listă → profil → top 20 cosine similarity.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74320" y="2368296"/>
            <a:ext cx="8595360" cy="576072"/>
          </a:xfrm>
          <a:prstGeom prst="rect">
            <a:avLst/>
          </a:prstGeom>
          <a:solidFill>
            <a:srgbClr val="16161F"/>
          </a:solidFill>
          <a:ln w="12700">
            <a:solidFill>
              <a:srgbClr val="1A1A2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2368296"/>
            <a:ext cx="777240" cy="576072"/>
          </a:xfrm>
          <a:prstGeom prst="rect">
            <a:avLst/>
          </a:prstGeom>
          <a:solidFill>
            <a:srgbClr val="1D3D6B"/>
          </a:solidFill>
          <a:ln w="12700">
            <a:solidFill>
              <a:srgbClr val="1D3D6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2368296"/>
            <a:ext cx="7772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43000" y="2404872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C5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/api/cauta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160520" y="2404872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9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Primește text liber → tokenizare + vector → ranking + bonus gen/actor.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74320" y="3026664"/>
            <a:ext cx="8595360" cy="576072"/>
          </a:xfrm>
          <a:prstGeom prst="rect">
            <a:avLst/>
          </a:prstGeom>
          <a:solidFill>
            <a:srgbClr val="16161F"/>
          </a:solidFill>
          <a:ln w="12700">
            <a:solidFill>
              <a:srgbClr val="1A1A2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4320" y="3026664"/>
            <a:ext cx="777240" cy="576072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3026664"/>
            <a:ext cx="7772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143000" y="306324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C5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/api/film/&lt;id&gt;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160520" y="306324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9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Detalii film + distribuție (cast cu poze) de la TMDB.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74320" y="3685032"/>
            <a:ext cx="8595360" cy="576072"/>
          </a:xfrm>
          <a:prstGeom prst="rect">
            <a:avLst/>
          </a:prstGeom>
          <a:solidFill>
            <a:srgbClr val="16161F"/>
          </a:solidFill>
          <a:ln w="12700">
            <a:solidFill>
              <a:srgbClr val="1A1A2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74320" y="3685032"/>
            <a:ext cx="777240" cy="576072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3685032"/>
            <a:ext cx="7772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143000" y="3721608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C5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/api/genuri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160520" y="3721608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9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sortată a genurilor unice pentru sidebar.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74320" y="4343400"/>
            <a:ext cx="8595360" cy="576072"/>
          </a:xfrm>
          <a:prstGeom prst="rect">
            <a:avLst/>
          </a:prstGeom>
          <a:solidFill>
            <a:srgbClr val="16161F"/>
          </a:solidFill>
          <a:ln w="12700">
            <a:solidFill>
              <a:srgbClr val="1A1A2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74320" y="4343400"/>
            <a:ext cx="777240" cy="576072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" y="4343400"/>
            <a:ext cx="7772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143000" y="4379976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C5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/api/postere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160520" y="4379976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9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id → poster_path pentru poster polling din frontend.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C55A"/>
          </a:solidFill>
        </p:spPr>
      </p:sp>
      <p:sp>
        <p:nvSpPr>
          <p:cNvPr id="3" name="Title"/>
          <p:cNvSpPr/>
          <p:nvPr/>
        </p:nvSpPr>
        <p:spPr>
          <a:xfrm>
            <a:off x="365760" y="220000"/>
            <a:ext cx="8412480" cy="5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kern="0" spc="200" dirty="0">
                <a:solidFill>
                  <a:srgbClr val="F0EEE8"/>
                </a:solidFill>
                <a:latin typeface="Impact"/>
              </a:rPr>
              <a:t>Stack Tehnologic</a:t>
            </a:r>
          </a:p>
        </p:txBody>
      </p:sp>
      <p:sp>
        <p:nvSpPr>
          <p:cNvPr id="4" name="BELabel"/>
          <p:cNvSpPr/>
          <p:nvPr/>
        </p:nvSpPr>
        <p:spPr>
          <a:xfrm>
            <a:off x="365760" y="940000"/>
            <a:ext cx="4000000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kern="0" spc="200" dirty="0">
                <a:solidFill>
                  <a:srgbClr val="E8C55A"/>
                </a:solidFill>
                <a:latin typeface="Impact"/>
              </a:rPr>
              <a:t>BACKEND</a:t>
            </a:r>
          </a:p>
        </p:txBody>
      </p:sp>
      <p:sp>
        <p:nvSpPr>
          <p:cNvPr id="5" name="BE"/>
          <p:cNvSpPr/>
          <p:nvPr/>
        </p:nvSpPr>
        <p:spPr>
          <a:xfrm>
            <a:off x="365760" y="1330000"/>
            <a:ext cx="4000000" cy="3400000"/>
          </a:xfrm>
          <a:prstGeom prst="rect">
            <a:avLst/>
          </a:prstGeom>
          <a:solidFill>
            <a:srgbClr val="12121A"/>
          </a:solidFill>
          <a:ln w="12700">
            <a:solidFill>
              <a:srgbClr val="E8C55A"/>
            </a:solidFill>
          </a:ln>
        </p:spPr>
        <p:txBody>
          <a:bodyPr wrap="square" lIns="200000" tIns="180000" rIns="200000" bIns="18000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0EEE8"/>
                </a:solidFill>
                <a:latin typeface="Calibri"/>
              </a:rPr>
              <a:t>Python</a:t>
            </a:r>
          </a:p>
          <a:p>
            <a:pPr indent="0" marL="0">
              <a:buNone/>
            </a:pPr>
            <a:r>
              <a:rPr lang="en-US" sz="1100" dirty="0">
                <a:solidFill>
                  <a:srgbClr val="9994A8"/>
                </a:solidFill>
                <a:latin typeface="Calibri"/>
              </a:rPr>
              <a:t>Logica NLP, algoritmi, server</a:t>
            </a:r>
          </a:p>
          <a:p>
            <a:pPr indent="0" marL="0">
              <a:buNone/>
            </a:pPr>
            <a:r>
              <a:rPr lang="en-US" sz="500" dirty="0">
                <a:solidFill>
                  <a:srgbClr val="1A1A26"/>
                </a:solidFill>
              </a:rPr>
              <a:t xml:space="preserve"> </a:t>
            </a:r>
          </a:p>
          <a:p>
            <a:pPr indent="0" marL="0">
              <a:buNone/>
            </a:pPr>
            <a:r>
              <a:rPr lang="en-US" sz="2000" b="1" dirty="0">
                <a:solidFill>
                  <a:srgbClr val="F0EEE8"/>
                </a:solidFill>
                <a:latin typeface="Calibri"/>
              </a:rPr>
              <a:t>Flask + REST API</a:t>
            </a:r>
          </a:p>
          <a:p>
            <a:pPr indent="0" marL="0">
              <a:buNone/>
            </a:pPr>
            <a:r>
              <a:rPr lang="en-US" sz="1100" dirty="0">
                <a:solidFill>
                  <a:srgbClr val="9994A8"/>
                </a:solidFill>
                <a:latin typeface="Calibri"/>
              </a:rPr>
              <a:t>Endpoints, CORS, routing</a:t>
            </a:r>
          </a:p>
          <a:p>
            <a:pPr indent="0" marL="0">
              <a:buNone/>
            </a:pPr>
            <a:r>
              <a:rPr lang="en-US" sz="500" dirty="0">
                <a:solidFill>
                  <a:srgbClr val="1A1A26"/>
                </a:solidFill>
              </a:rPr>
              <a:t xml:space="preserve"> </a:t>
            </a:r>
          </a:p>
          <a:p>
            <a:pPr indent="0" marL="0">
              <a:buNone/>
            </a:pPr>
            <a:r>
              <a:rPr lang="en-US" sz="2000" b="1" dirty="0">
                <a:solidFill>
                  <a:srgbClr val="F0EEE8"/>
                </a:solidFill>
                <a:latin typeface="Calibri"/>
              </a:rPr>
              <a:t>Word2Vec + SBERT</a:t>
            </a:r>
          </a:p>
          <a:p>
            <a:pPr indent="0" marL="0">
              <a:buNone/>
            </a:pPr>
            <a:r>
              <a:rPr lang="en-US" sz="1100" dirty="0">
                <a:solidFill>
                  <a:srgbClr val="9994A8"/>
                </a:solidFill>
                <a:latin typeface="Calibri"/>
              </a:rPr>
              <a:t>Gensim, sentence-transformers</a:t>
            </a:r>
          </a:p>
          <a:p>
            <a:pPr indent="0" marL="0">
              <a:buNone/>
            </a:pPr>
            <a:r>
              <a:rPr lang="en-US" sz="500" dirty="0">
                <a:solidFill>
                  <a:srgbClr val="1A1A26"/>
                </a:solidFill>
              </a:rPr>
              <a:t xml:space="preserve"> </a:t>
            </a:r>
          </a:p>
          <a:p>
            <a:pPr indent="0" marL="0">
              <a:buNone/>
            </a:pPr>
            <a:r>
              <a:rPr lang="en-US" sz="2000" b="1" dirty="0">
                <a:solidFill>
                  <a:srgbClr val="F0EEE8"/>
                </a:solidFill>
                <a:latin typeface="Calibri"/>
              </a:rPr>
              <a:t>NumPy</a:t>
            </a:r>
          </a:p>
          <a:p>
            <a:pPr indent="0" marL="0">
              <a:buNone/>
            </a:pPr>
            <a:r>
              <a:rPr lang="en-US" sz="1100" dirty="0">
                <a:solidFill>
                  <a:srgbClr val="9994A8"/>
                </a:solidFill>
                <a:latin typeface="Calibri"/>
              </a:rPr>
              <a:t>Vectori, normalizare L2, dot product</a:t>
            </a:r>
          </a:p>
        </p:txBody>
      </p:sp>
      <p:sp>
        <p:nvSpPr>
          <p:cNvPr id="6" name="FELabel"/>
          <p:cNvSpPr/>
          <p:nvPr/>
        </p:nvSpPr>
        <p:spPr>
          <a:xfrm>
            <a:off x="4548960" y="940000"/>
            <a:ext cx="4200000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kern="0" spc="200" dirty="0">
                <a:solidFill>
                  <a:srgbClr val="E8C55A"/>
                </a:solidFill>
                <a:latin typeface="Impact"/>
              </a:rPr>
              <a:t>FRONTEND</a:t>
            </a:r>
          </a:p>
        </p:txBody>
      </p:sp>
      <p:sp>
        <p:nvSpPr>
          <p:cNvPr id="7" name="FE"/>
          <p:cNvSpPr/>
          <p:nvPr/>
        </p:nvSpPr>
        <p:spPr>
          <a:xfrm>
            <a:off x="4548960" y="1330000"/>
            <a:ext cx="4200000" cy="3400000"/>
          </a:xfrm>
          <a:prstGeom prst="rect">
            <a:avLst/>
          </a:prstGeom>
          <a:solidFill>
            <a:srgbClr val="12121A"/>
          </a:solidFill>
          <a:ln w="12700">
            <a:solidFill>
              <a:srgbClr val="E8C55A"/>
            </a:solidFill>
          </a:ln>
        </p:spPr>
        <p:txBody>
          <a:bodyPr wrap="square" lIns="200000" tIns="180000" rIns="200000" bIns="18000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0EEE8"/>
                </a:solidFill>
                <a:latin typeface="Calibri"/>
              </a:rPr>
              <a:t>HTML + CSS</a:t>
            </a:r>
          </a:p>
          <a:p>
            <a:pPr indent="0" marL="0">
              <a:buNone/>
            </a:pPr>
            <a:r>
              <a:rPr lang="en-US" sz="1100" dirty="0">
                <a:solidFill>
                  <a:srgbClr val="9994A8"/>
                </a:solidFill>
                <a:latin typeface="Calibri"/>
              </a:rPr>
              <a:t>Structura UI, tema dark cinema, CSS variables</a:t>
            </a:r>
          </a:p>
          <a:p>
            <a:pPr indent="0" marL="0">
              <a:buNone/>
            </a:pPr>
            <a:r>
              <a:rPr lang="en-US" sz="500" dirty="0">
                <a:solidFill>
                  <a:srgbClr val="1A1A26"/>
                </a:solidFill>
              </a:rPr>
              <a:t xml:space="preserve"> </a:t>
            </a:r>
          </a:p>
          <a:p>
            <a:pPr indent="0" marL="0">
              <a:buNone/>
            </a:pPr>
            <a:r>
              <a:rPr lang="en-US" sz="2000" b="1" dirty="0">
                <a:solidFill>
                  <a:srgbClr val="F0EEE8"/>
                </a:solidFill>
                <a:latin typeface="Calibri"/>
              </a:rPr>
              <a:t>JavaScript (ES6+)</a:t>
            </a:r>
          </a:p>
          <a:p>
            <a:pPr indent="0" marL="0">
              <a:buNone/>
            </a:pPr>
            <a:r>
              <a:rPr lang="en-US" sz="1100" dirty="0">
                <a:solidFill>
                  <a:srgbClr val="9994A8"/>
                </a:solidFill>
                <a:latin typeface="Calibri"/>
              </a:rPr>
              <a:t>Fetch API, async/await, DOM, localStorage, polling</a:t>
            </a:r>
          </a:p>
          <a:p>
            <a:pPr indent="0" marL="0">
              <a:buNone/>
            </a:pPr>
            <a:r>
              <a:rPr lang="en-US" sz="500" dirty="0">
                <a:solidFill>
                  <a:srgbClr val="1A1A26"/>
                </a:solidFill>
              </a:rPr>
              <a:t xml:space="preserve"> </a:t>
            </a:r>
          </a:p>
          <a:p>
            <a:pPr indent="0" marL="0">
              <a:buNone/>
            </a:pPr>
            <a:r>
              <a:rPr lang="en-US" sz="2000" b="1" dirty="0">
                <a:solidFill>
                  <a:srgbClr val="F0EEE8"/>
                </a:solidFill>
                <a:latin typeface="Calibri"/>
              </a:rPr>
              <a:t>TMDB API</a:t>
            </a:r>
          </a:p>
          <a:p>
            <a:pPr indent="0" marL="0">
              <a:buNone/>
            </a:pPr>
            <a:r>
              <a:rPr lang="en-US" sz="1100" dirty="0">
                <a:solidFill>
                  <a:srgbClr val="9994A8"/>
                </a:solidFill>
                <a:latin typeface="Calibri"/>
              </a:rPr>
              <a:t>Postere, cast, rating, backdrop</a:t>
            </a:r>
          </a:p>
          <a:p>
            <a:pPr indent="0" marL="0">
              <a:buNone/>
            </a:pPr>
            <a:r>
              <a:rPr lang="en-US" sz="500" dirty="0">
                <a:solidFill>
                  <a:srgbClr val="1A1A26"/>
                </a:solidFill>
              </a:rPr>
              <a:t xml:space="preserve"> </a:t>
            </a:r>
          </a:p>
          <a:p>
            <a:pPr indent="0" marL="0">
              <a:buNone/>
            </a:pPr>
            <a:r>
              <a:rPr lang="en-US" sz="2000" b="1" dirty="0">
                <a:solidFill>
                  <a:srgbClr val="F0EEE8"/>
                </a:solidFill>
                <a:latin typeface="Calibri"/>
              </a:rPr>
              <a:t>HuggingFace Datasets</a:t>
            </a:r>
          </a:p>
          <a:p>
            <a:pPr indent="0" marL="0">
              <a:buNone/>
            </a:pPr>
            <a:r>
              <a:rPr lang="en-US" sz="1100" dirty="0">
                <a:solidFill>
                  <a:srgbClr val="9994A8"/>
                </a:solidFill>
                <a:latin typeface="Calibri"/>
              </a:rPr>
              <a:t>~87.000 filme cu plot, genuri, cast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r"/>
          <p:cNvSpPr/>
          <p:nvPr/>
        </p:nvSpPr>
        <p:spPr>
          <a:xfrm>
            <a:off x="0" y="0"/>
            <a:ext cx="9144000" cy="80000"/>
          </a:xfrm>
          <a:prstGeom prst="rect">
            <a:avLst/>
          </a:prstGeom>
          <a:solidFill>
            <a:srgbClr val="E8C55A"/>
          </a:solidFill>
        </p:spPr>
      </p:sp>
      <p:sp>
        <p:nvSpPr>
          <p:cNvPr id="3" name="BotBar"/>
          <p:cNvSpPr/>
          <p:nvPr/>
        </p:nvSpPr>
        <p:spPr>
          <a:xfrm>
            <a:off x="0" y="5063500"/>
            <a:ext cx="9144000" cy="80000"/>
          </a:xfrm>
          <a:prstGeom prst="rect">
            <a:avLst/>
          </a:prstGeom>
          <a:solidFill>
            <a:srgbClr val="E8C55A"/>
          </a:solidFill>
        </p:spPr>
      </p:sp>
      <p:sp>
        <p:nvSpPr>
          <p:cNvPr id="4" name="Symbol"/>
          <p:cNvSpPr/>
          <p:nvPr/>
        </p:nvSpPr>
        <p:spPr>
          <a:xfrm>
            <a:off x="3972000" y="900000"/>
            <a:ext cx="1200000" cy="8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dirty="0">
                <a:solidFill>
                  <a:srgbClr val="E8C55A"/>
                </a:solidFill>
                <a:latin typeface="Impact"/>
              </a:rPr>
              <a:t>◈</a:t>
            </a:r>
          </a:p>
        </p:txBody>
      </p:sp>
      <p:sp>
        <p:nvSpPr>
          <p:cNvPr id="5" name="Brand"/>
          <p:cNvSpPr/>
          <p:nvPr/>
        </p:nvSpPr>
        <p:spPr>
          <a:xfrm>
            <a:off x="274320" y="1780000"/>
            <a:ext cx="8595360" cy="9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kern="0" spc="500" dirty="0">
                <a:solidFill>
                  <a:srgbClr val="F0EEE8"/>
                </a:solidFill>
                <a:latin typeface="Impact"/>
              </a:rPr>
              <a:t>CINEMATCH</a:t>
            </a:r>
          </a:p>
        </p:txBody>
      </p:sp>
      <p:sp>
        <p:nvSpPr>
          <p:cNvPr id="6" name="Thanks"/>
          <p:cNvSpPr/>
          <p:nvPr/>
        </p:nvSpPr>
        <p:spPr>
          <a:xfrm>
            <a:off x="274320" y="2780000"/>
            <a:ext cx="8595360" cy="6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ro-RO" sz="3600" kern="0" spc="300" dirty="0">
                <a:solidFill>
                  <a:srgbClr val="E8C55A"/>
                </a:solidFill>
                <a:latin typeface="Impact"/>
              </a:rPr>
              <a:t>Vă mulţumim!</a:t>
            </a:r>
          </a:p>
        </p:txBody>
      </p:sp>
      <p:sp>
        <p:nvSpPr>
          <p:cNvPr id="7" name="Sub"/>
          <p:cNvSpPr/>
          <p:nvPr/>
        </p:nvSpPr>
        <p:spPr>
          <a:xfrm>
            <a:off x="274320" y="3480000"/>
            <a:ext cx="859536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spc="100" dirty="0">
                <a:solidFill>
                  <a:srgbClr val="5A5570"/>
                </a:solidFill>
                <a:latin typeface="DM Sans"/>
              </a:rPr>
              <a:t>Python  •  Flask  •  Word2Vec  •  SBERT  •  TMDB API  •  HuggingFace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ă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1724</Words>
  <Application>Microsoft Office PowerPoint</Application>
  <PresentationFormat>Expunere pe ecran (16:9)</PresentationFormat>
  <Paragraphs>237</Paragraphs>
  <Slides>14</Slides>
  <Notes>9</Notes>
  <HiddenSlides>0</HiddenSlides>
  <MMClips>0</MMClips>
  <ScaleCrop>false</ScaleCrop>
  <HeadingPairs>
    <vt:vector size="6" baseType="variant">
      <vt:variant>
        <vt:lpstr>Fonturi utilizate</vt:lpstr>
      </vt:variant>
      <vt:variant>
        <vt:i4>4</vt:i4>
      </vt:variant>
      <vt:variant>
        <vt:lpstr>Temă</vt:lpstr>
      </vt:variant>
      <vt:variant>
        <vt:i4>1</vt:i4>
      </vt:variant>
      <vt:variant>
        <vt:lpstr>Titluri diapozitive</vt:lpstr>
      </vt:variant>
      <vt:variant>
        <vt:i4>14</vt:i4>
      </vt:variant>
    </vt:vector>
  </HeadingPairs>
  <TitlesOfParts>
    <vt:vector size="19" baseType="lpstr">
      <vt:lpstr>Arial</vt:lpstr>
      <vt:lpstr>Calibri</vt:lpstr>
      <vt:lpstr>Consolas</vt:lpstr>
      <vt:lpstr>Impact</vt:lpstr>
      <vt:lpstr>Office Theme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CineMatch — Prezentare Proiect</dc:title>
  <dc:subject>PptxGenJS Presentation</dc:subject>
  <dc:creator>PptxGenJS</dc:creator>
  <cp:lastModifiedBy>MIHAI IORDACHE</cp:lastModifiedBy>
  <cp:revision>2</cp:revision>
  <dcterms:created xsi:type="dcterms:W3CDTF">2026-04-26T17:01:00Z</dcterms:created>
  <dcterms:modified xsi:type="dcterms:W3CDTF">2026-04-27T09:01:10Z</dcterms:modified>
</cp:coreProperties>
</file>